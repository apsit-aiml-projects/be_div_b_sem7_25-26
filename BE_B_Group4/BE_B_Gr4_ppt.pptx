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0"/>
  </p:normalViewPr>
  <p:slideViewPr>
    <p:cSldViewPr>
      <p:cViewPr varScale="1">
        <p:scale>
          <a:sx n="71" d="100"/>
          <a:sy n="71" d="100"/>
        </p:scale>
        <p:origin x="2107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2488"/>
            <a:ext cx="495934" cy="3076575"/>
          </a:xfrm>
          <a:custGeom>
            <a:avLst/>
            <a:gdLst/>
            <a:ahLst/>
            <a:cxnLst/>
            <a:rect l="l" t="t" r="r" b="b"/>
            <a:pathLst>
              <a:path w="495934" h="3076575">
                <a:moveTo>
                  <a:pt x="0" y="0"/>
                </a:moveTo>
                <a:lnTo>
                  <a:pt x="0" y="3076552"/>
                </a:lnTo>
                <a:lnTo>
                  <a:pt x="495351" y="3076552"/>
                </a:lnTo>
                <a:lnTo>
                  <a:pt x="0" y="0"/>
                </a:lnTo>
                <a:close/>
              </a:path>
            </a:pathLst>
          </a:custGeom>
          <a:solidFill>
            <a:srgbClr val="E38312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62322" y="1524"/>
            <a:ext cx="4417695" cy="7559675"/>
          </a:xfrm>
          <a:custGeom>
            <a:avLst/>
            <a:gdLst/>
            <a:ahLst/>
            <a:cxnLst/>
            <a:rect l="l" t="t" r="r" b="b"/>
            <a:pathLst>
              <a:path w="4417695" h="7559675">
                <a:moveTo>
                  <a:pt x="0" y="7557516"/>
                </a:moveTo>
                <a:lnTo>
                  <a:pt x="4417413" y="4610951"/>
                </a:lnTo>
              </a:path>
              <a:path w="4417695" h="7559675">
                <a:moveTo>
                  <a:pt x="2102457" y="0"/>
                </a:moveTo>
                <a:lnTo>
                  <a:pt x="3445482" y="7559673"/>
                </a:lnTo>
              </a:path>
            </a:pathLst>
          </a:custGeom>
          <a:ln w="9144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98664" y="0"/>
            <a:ext cx="2481580" cy="7559040"/>
          </a:xfrm>
          <a:custGeom>
            <a:avLst/>
            <a:gdLst/>
            <a:ahLst/>
            <a:cxnLst/>
            <a:rect l="l" t="t" r="r" b="b"/>
            <a:pathLst>
              <a:path w="2481579" h="7559040">
                <a:moveTo>
                  <a:pt x="2231263" y="0"/>
                </a:moveTo>
                <a:lnTo>
                  <a:pt x="0" y="7558852"/>
                </a:lnTo>
                <a:lnTo>
                  <a:pt x="50299" y="7559040"/>
                </a:lnTo>
                <a:lnTo>
                  <a:pt x="2481071" y="7559040"/>
                </a:lnTo>
                <a:lnTo>
                  <a:pt x="2481071" y="8861"/>
                </a:lnTo>
                <a:lnTo>
                  <a:pt x="2231263" y="0"/>
                </a:lnTo>
                <a:close/>
              </a:path>
            </a:pathLst>
          </a:custGeom>
          <a:solidFill>
            <a:srgbClr val="E38312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944688" y="0"/>
            <a:ext cx="2135505" cy="7559040"/>
          </a:xfrm>
          <a:custGeom>
            <a:avLst/>
            <a:gdLst/>
            <a:ahLst/>
            <a:cxnLst/>
            <a:rect l="l" t="t" r="r" b="b"/>
            <a:pathLst>
              <a:path w="2135504" h="7559040">
                <a:moveTo>
                  <a:pt x="2135047" y="0"/>
                </a:moveTo>
                <a:lnTo>
                  <a:pt x="0" y="0"/>
                </a:lnTo>
                <a:lnTo>
                  <a:pt x="1322629" y="7559040"/>
                </a:lnTo>
                <a:lnTo>
                  <a:pt x="2135047" y="7559040"/>
                </a:lnTo>
                <a:lnTo>
                  <a:pt x="2135047" y="0"/>
                </a:lnTo>
                <a:close/>
              </a:path>
            </a:pathLst>
          </a:custGeom>
          <a:solidFill>
            <a:srgbClr val="E38312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8248" y="4324295"/>
            <a:ext cx="2761615" cy="3235325"/>
          </a:xfrm>
          <a:custGeom>
            <a:avLst/>
            <a:gdLst/>
            <a:ahLst/>
            <a:cxnLst/>
            <a:rect l="l" t="t" r="r" b="b"/>
            <a:pathLst>
              <a:path w="2761615" h="3235325">
                <a:moveTo>
                  <a:pt x="2761487" y="0"/>
                </a:moveTo>
                <a:lnTo>
                  <a:pt x="0" y="3234744"/>
                </a:lnTo>
                <a:lnTo>
                  <a:pt x="2761487" y="3234744"/>
                </a:lnTo>
                <a:lnTo>
                  <a:pt x="2761487" y="0"/>
                </a:lnTo>
                <a:close/>
              </a:path>
            </a:pathLst>
          </a:custGeom>
          <a:solidFill>
            <a:srgbClr val="AB610D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729153" y="0"/>
            <a:ext cx="2350770" cy="7559040"/>
          </a:xfrm>
          <a:custGeom>
            <a:avLst/>
            <a:gdLst/>
            <a:ahLst/>
            <a:cxnLst/>
            <a:rect l="l" t="t" r="r" b="b"/>
            <a:pathLst>
              <a:path w="2350770" h="7559040">
                <a:moveTo>
                  <a:pt x="2350583" y="0"/>
                </a:moveTo>
                <a:lnTo>
                  <a:pt x="0" y="0"/>
                </a:lnTo>
                <a:lnTo>
                  <a:pt x="2044259" y="7559040"/>
                </a:lnTo>
                <a:lnTo>
                  <a:pt x="2350583" y="7549977"/>
                </a:lnTo>
                <a:lnTo>
                  <a:pt x="2350583" y="0"/>
                </a:lnTo>
                <a:close/>
              </a:path>
            </a:pathLst>
          </a:custGeom>
          <a:solidFill>
            <a:srgbClr val="AB610D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47048" y="0"/>
            <a:ext cx="932815" cy="7559040"/>
          </a:xfrm>
          <a:custGeom>
            <a:avLst/>
            <a:gdLst/>
            <a:ahLst/>
            <a:cxnLst/>
            <a:rect l="l" t="t" r="r" b="b"/>
            <a:pathLst>
              <a:path w="932815" h="7559040">
                <a:moveTo>
                  <a:pt x="932687" y="0"/>
                </a:moveTo>
                <a:lnTo>
                  <a:pt x="742686" y="0"/>
                </a:lnTo>
                <a:lnTo>
                  <a:pt x="0" y="7559040"/>
                </a:lnTo>
                <a:lnTo>
                  <a:pt x="932687" y="7559040"/>
                </a:lnTo>
                <a:lnTo>
                  <a:pt x="932687" y="0"/>
                </a:lnTo>
                <a:close/>
              </a:path>
            </a:pathLst>
          </a:custGeom>
          <a:solidFill>
            <a:srgbClr val="BC572C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25794" y="0"/>
            <a:ext cx="1154430" cy="7559040"/>
          </a:xfrm>
          <a:custGeom>
            <a:avLst/>
            <a:gdLst/>
            <a:ahLst/>
            <a:cxnLst/>
            <a:rect l="l" t="t" r="r" b="b"/>
            <a:pathLst>
              <a:path w="1154429" h="7559040">
                <a:moveTo>
                  <a:pt x="1153941" y="0"/>
                </a:moveTo>
                <a:lnTo>
                  <a:pt x="0" y="0"/>
                </a:lnTo>
                <a:lnTo>
                  <a:pt x="1033926" y="7559040"/>
                </a:lnTo>
                <a:lnTo>
                  <a:pt x="1153941" y="7559040"/>
                </a:lnTo>
                <a:lnTo>
                  <a:pt x="1153941" y="0"/>
                </a:lnTo>
                <a:close/>
              </a:path>
            </a:pathLst>
          </a:custGeom>
          <a:solidFill>
            <a:srgbClr val="8E4220">
              <a:alpha val="8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94064" y="5423326"/>
            <a:ext cx="1186180" cy="2136140"/>
          </a:xfrm>
          <a:custGeom>
            <a:avLst/>
            <a:gdLst/>
            <a:ahLst/>
            <a:cxnLst/>
            <a:rect l="l" t="t" r="r" b="b"/>
            <a:pathLst>
              <a:path w="1186179" h="2136140">
                <a:moveTo>
                  <a:pt x="1185671" y="0"/>
                </a:moveTo>
                <a:lnTo>
                  <a:pt x="0" y="2135713"/>
                </a:lnTo>
                <a:lnTo>
                  <a:pt x="1185671" y="2130205"/>
                </a:lnTo>
                <a:lnTo>
                  <a:pt x="1185671" y="0"/>
                </a:lnTo>
                <a:close/>
              </a:path>
            </a:pathLst>
          </a:custGeom>
          <a:solidFill>
            <a:srgbClr val="AB610D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9966" y="253111"/>
            <a:ext cx="8074482" cy="1066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0641" y="2094052"/>
            <a:ext cx="8639175" cy="3044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533" y="2268423"/>
            <a:ext cx="7736840" cy="10871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442720" marR="5080" indent="-1430655">
              <a:lnSpc>
                <a:spcPts val="4029"/>
              </a:lnSpc>
              <a:spcBef>
                <a:spcPts val="475"/>
              </a:spcBef>
            </a:pPr>
            <a:r>
              <a:rPr dirty="0"/>
              <a:t>SpotNFix:</a:t>
            </a:r>
            <a:r>
              <a:rPr spc="-40" dirty="0"/>
              <a:t> </a:t>
            </a:r>
            <a:r>
              <a:rPr dirty="0"/>
              <a:t>Smart</a:t>
            </a:r>
            <a:r>
              <a:rPr spc="-45" dirty="0"/>
              <a:t> </a:t>
            </a:r>
            <a:r>
              <a:rPr dirty="0"/>
              <a:t>pothole</a:t>
            </a:r>
            <a:r>
              <a:rPr spc="-30" dirty="0"/>
              <a:t> </a:t>
            </a:r>
            <a:r>
              <a:rPr dirty="0"/>
              <a:t>reporting</a:t>
            </a:r>
            <a:r>
              <a:rPr spc="-60" dirty="0"/>
              <a:t> </a:t>
            </a:r>
            <a:r>
              <a:rPr spc="-25" dirty="0"/>
              <a:t>and </a:t>
            </a:r>
            <a:r>
              <a:rPr dirty="0"/>
              <a:t>severity</a:t>
            </a:r>
            <a:r>
              <a:rPr spc="-90" dirty="0"/>
              <a:t> </a:t>
            </a:r>
            <a:r>
              <a:rPr dirty="0"/>
              <a:t>detection</a:t>
            </a:r>
            <a:r>
              <a:rPr spc="-100" dirty="0"/>
              <a:t> </a:t>
            </a:r>
            <a:r>
              <a:rPr spc="-10" dirty="0"/>
              <a:t>system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4626" y="3884498"/>
            <a:ext cx="3114040" cy="1180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315"/>
              </a:lnSpc>
              <a:spcBef>
                <a:spcPts val="95"/>
              </a:spcBef>
            </a:pPr>
            <a:r>
              <a:rPr sz="2000" dirty="0">
                <a:latin typeface="Microsoft Sans Serif"/>
                <a:cs typeface="Microsoft Sans Serif"/>
              </a:rPr>
              <a:t>Aditya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Sawant: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22106084</a:t>
            </a:r>
            <a:endParaRPr sz="2000" dirty="0">
              <a:latin typeface="Microsoft Sans Serif"/>
              <a:cs typeface="Microsoft Sans Serif"/>
            </a:endParaRPr>
          </a:p>
          <a:p>
            <a:pPr algn="ctr">
              <a:lnSpc>
                <a:spcPts val="2235"/>
              </a:lnSpc>
            </a:pPr>
            <a:r>
              <a:rPr sz="2000" dirty="0">
                <a:latin typeface="Microsoft Sans Serif"/>
                <a:cs typeface="Microsoft Sans Serif"/>
              </a:rPr>
              <a:t>Jay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Yadav:</a:t>
            </a:r>
            <a:r>
              <a:rPr sz="2000" spc="-10" dirty="0">
                <a:latin typeface="Microsoft Sans Serif"/>
                <a:cs typeface="Microsoft Sans Serif"/>
              </a:rPr>
              <a:t> 23206007</a:t>
            </a:r>
            <a:endParaRPr sz="2000" dirty="0">
              <a:latin typeface="Microsoft Sans Serif"/>
              <a:cs typeface="Microsoft Sans Serif"/>
            </a:endParaRPr>
          </a:p>
          <a:p>
            <a:pPr algn="ctr">
              <a:lnSpc>
                <a:spcPts val="2230"/>
              </a:lnSpc>
            </a:pPr>
            <a:r>
              <a:rPr sz="2000" dirty="0">
                <a:latin typeface="Microsoft Sans Serif"/>
                <a:cs typeface="Microsoft Sans Serif"/>
              </a:rPr>
              <a:t>Pranal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Vernekar: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23206008</a:t>
            </a:r>
            <a:endParaRPr sz="2000" dirty="0">
              <a:latin typeface="Microsoft Sans Serif"/>
              <a:cs typeface="Microsoft Sans Serif"/>
            </a:endParaRPr>
          </a:p>
          <a:p>
            <a:pPr algn="ctr">
              <a:lnSpc>
                <a:spcPts val="2315"/>
              </a:lnSpc>
            </a:pPr>
            <a:r>
              <a:rPr sz="2000" dirty="0">
                <a:latin typeface="Microsoft Sans Serif"/>
                <a:cs typeface="Microsoft Sans Serif"/>
              </a:rPr>
              <a:t>Manas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Jagtap: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23206011</a:t>
            </a:r>
            <a:endParaRPr sz="2000" dirty="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4635500" y="5762625"/>
            <a:ext cx="3680460" cy="1099185"/>
            <a:chOff x="3206495" y="5815584"/>
            <a:chExt cx="3680460" cy="109918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5135" y="5815584"/>
              <a:ext cx="2592197" cy="7907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6495" y="6236208"/>
              <a:ext cx="3680332" cy="67801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86048" y="6056702"/>
            <a:ext cx="3305810" cy="796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270"/>
              </a:lnSpc>
              <a:spcBef>
                <a:spcPts val="105"/>
              </a:spcBef>
            </a:pPr>
            <a:r>
              <a:rPr lang="en-US" sz="2800" b="1" dirty="0">
                <a:latin typeface="Times New Roman"/>
                <a:cs typeface="Times New Roman"/>
              </a:rPr>
              <a:t>Project</a:t>
            </a:r>
            <a:r>
              <a:rPr lang="en-US" sz="2800" b="1" spc="-85" dirty="0">
                <a:latin typeface="Times New Roman"/>
                <a:cs typeface="Times New Roman"/>
              </a:rPr>
              <a:t> </a:t>
            </a:r>
            <a:r>
              <a:rPr lang="en-US" sz="2800" b="1" spc="-20" dirty="0">
                <a:latin typeface="Times New Roman"/>
                <a:cs typeface="Times New Roman"/>
              </a:rPr>
              <a:t>Guide</a:t>
            </a:r>
            <a:endParaRPr lang="en-US" sz="2800" dirty="0">
              <a:latin typeface="Times New Roman"/>
              <a:cs typeface="Times New Roman"/>
            </a:endParaRPr>
          </a:p>
          <a:p>
            <a:pPr algn="ctr">
              <a:lnSpc>
                <a:spcPts val="2790"/>
              </a:lnSpc>
              <a:tabLst>
                <a:tab pos="1189355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Dr. Rahul</a:t>
            </a:r>
            <a:r>
              <a:rPr lang="en-US" sz="2400" b="1" spc="-14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Ambekar</a:t>
            </a:r>
            <a:endParaRPr lang="en-US" sz="2400" dirty="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712976"/>
            <a:ext cx="10080625" cy="105410"/>
            <a:chOff x="0" y="1712976"/>
            <a:chExt cx="10080625" cy="10541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712976"/>
              <a:ext cx="10079735" cy="10515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1743456"/>
              <a:ext cx="10080625" cy="0"/>
            </a:xfrm>
            <a:custGeom>
              <a:avLst/>
              <a:gdLst/>
              <a:ahLst/>
              <a:cxnLst/>
              <a:rect l="l" t="t" r="r" b="b"/>
              <a:pathLst>
                <a:path w="10080625">
                  <a:moveTo>
                    <a:pt x="0" y="0"/>
                  </a:moveTo>
                  <a:lnTo>
                    <a:pt x="10080625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2583" y="179832"/>
            <a:ext cx="7705344" cy="1371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1076" y="366217"/>
            <a:ext cx="1501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033" y="1283822"/>
            <a:ext cx="4777105" cy="331787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spc="-10" dirty="0">
                <a:latin typeface="Trebuchet MS"/>
                <a:cs typeface="Trebuchet MS"/>
              </a:rPr>
              <a:t>Introduction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Literature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Survey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existing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ML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Models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Limitations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existing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systems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Problem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statement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Objective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spc="-10" dirty="0">
                <a:latin typeface="Trebuchet MS"/>
                <a:cs typeface="Trebuchet MS"/>
              </a:rPr>
              <a:t>Proposed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System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System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Design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Experimental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Setup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spc="-10" dirty="0">
                <a:latin typeface="Trebuchet MS"/>
                <a:cs typeface="Trebuchet MS"/>
              </a:rPr>
              <a:t>Implementation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Conclusion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future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work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843" y="779811"/>
            <a:ext cx="2488053" cy="3587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1744" y="1684477"/>
            <a:ext cx="8947150" cy="50744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pc="-80" dirty="0">
                <a:latin typeface="Tahoma"/>
                <a:cs typeface="Tahoma"/>
              </a:rPr>
              <a:t>Roads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45" dirty="0">
                <a:latin typeface="Tahoma"/>
                <a:cs typeface="Tahoma"/>
              </a:rPr>
              <a:t>in</a:t>
            </a:r>
            <a:r>
              <a:rPr spc="-70" dirty="0">
                <a:latin typeface="Tahoma"/>
                <a:cs typeface="Tahoma"/>
              </a:rPr>
              <a:t> </a:t>
            </a:r>
            <a:r>
              <a:rPr spc="-35" dirty="0">
                <a:latin typeface="Tahoma"/>
                <a:cs typeface="Tahoma"/>
              </a:rPr>
              <a:t>cities</a:t>
            </a:r>
            <a:r>
              <a:rPr spc="-85" dirty="0">
                <a:latin typeface="Tahoma"/>
                <a:cs typeface="Tahoma"/>
              </a:rPr>
              <a:t> and</a:t>
            </a:r>
            <a:r>
              <a:rPr spc="-90" dirty="0">
                <a:latin typeface="Tahoma"/>
                <a:cs typeface="Tahoma"/>
              </a:rPr>
              <a:t> </a:t>
            </a:r>
            <a:r>
              <a:rPr spc="-65" dirty="0">
                <a:latin typeface="Tahoma"/>
                <a:cs typeface="Tahoma"/>
              </a:rPr>
              <a:t>towns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often</a:t>
            </a:r>
            <a:r>
              <a:rPr spc="-100" dirty="0">
                <a:latin typeface="Tahoma"/>
                <a:cs typeface="Tahoma"/>
              </a:rPr>
              <a:t> </a:t>
            </a:r>
            <a:r>
              <a:rPr spc="-85" dirty="0">
                <a:latin typeface="Tahoma"/>
                <a:cs typeface="Tahoma"/>
              </a:rPr>
              <a:t>develop</a:t>
            </a:r>
            <a:r>
              <a:rPr spc="-80" dirty="0">
                <a:latin typeface="Tahoma"/>
                <a:cs typeface="Tahoma"/>
              </a:rPr>
              <a:t> </a:t>
            </a:r>
            <a:r>
              <a:rPr spc="-65" dirty="0">
                <a:latin typeface="Trebuchet MS"/>
                <a:cs typeface="Trebuchet MS"/>
              </a:rPr>
              <a:t>potholes</a:t>
            </a:r>
            <a:r>
              <a:rPr spc="-130" dirty="0">
                <a:latin typeface="Trebuchet MS"/>
                <a:cs typeface="Trebuchet MS"/>
              </a:rPr>
              <a:t> </a:t>
            </a:r>
            <a:r>
              <a:rPr spc="-105" dirty="0">
                <a:latin typeface="Trebuchet MS"/>
                <a:cs typeface="Trebuchet MS"/>
              </a:rPr>
              <a:t>due</a:t>
            </a:r>
            <a:r>
              <a:rPr spc="-8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to</a:t>
            </a:r>
            <a:r>
              <a:rPr spc="-95" dirty="0">
                <a:latin typeface="Trebuchet MS"/>
                <a:cs typeface="Trebuchet MS"/>
              </a:rPr>
              <a:t> </a:t>
            </a:r>
            <a:r>
              <a:rPr spc="-110" dirty="0">
                <a:latin typeface="Trebuchet MS"/>
                <a:cs typeface="Trebuchet MS"/>
              </a:rPr>
              <a:t>heavy</a:t>
            </a:r>
            <a:r>
              <a:rPr spc="-105" dirty="0">
                <a:latin typeface="Trebuchet MS"/>
                <a:cs typeface="Trebuchet MS"/>
              </a:rPr>
              <a:t> </a:t>
            </a:r>
            <a:r>
              <a:rPr spc="-95" dirty="0">
                <a:latin typeface="Trebuchet MS"/>
                <a:cs typeface="Trebuchet MS"/>
              </a:rPr>
              <a:t>traffic,</a:t>
            </a:r>
            <a:r>
              <a:rPr spc="-190" dirty="0">
                <a:latin typeface="Trebuchet MS"/>
                <a:cs typeface="Trebuchet MS"/>
              </a:rPr>
              <a:t> </a:t>
            </a:r>
            <a:r>
              <a:rPr spc="-120" dirty="0">
                <a:latin typeface="Trebuchet MS"/>
                <a:cs typeface="Trebuchet MS"/>
              </a:rPr>
              <a:t>rain,</a:t>
            </a:r>
            <a:r>
              <a:rPr spc="-85" dirty="0">
                <a:latin typeface="Trebuchet MS"/>
                <a:cs typeface="Trebuchet MS"/>
              </a:rPr>
              <a:t> </a:t>
            </a:r>
            <a:r>
              <a:rPr spc="-80" dirty="0">
                <a:latin typeface="Trebuchet MS"/>
                <a:cs typeface="Trebuchet MS"/>
              </a:rPr>
              <a:t>and</a:t>
            </a:r>
            <a:r>
              <a:rPr spc="-125" dirty="0">
                <a:latin typeface="Trebuchet MS"/>
                <a:cs typeface="Trebuchet MS"/>
              </a:rPr>
              <a:t> </a:t>
            </a:r>
            <a:r>
              <a:rPr spc="-65" dirty="0">
                <a:latin typeface="Trebuchet MS"/>
                <a:cs typeface="Trebuchet MS"/>
              </a:rPr>
              <a:t>poor</a:t>
            </a:r>
            <a:r>
              <a:rPr spc="-114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maintenance</a:t>
            </a:r>
            <a:r>
              <a:rPr spc="-10" dirty="0">
                <a:latin typeface="Tahoma"/>
                <a:cs typeface="Tahoma"/>
              </a:rPr>
              <a:t>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Font typeface="Microsoft Sans Serif"/>
              <a:buChar char="•"/>
            </a:pPr>
            <a:endParaRPr dirty="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pc="-50" dirty="0">
                <a:latin typeface="Tahoma"/>
                <a:cs typeface="Tahoma"/>
              </a:rPr>
              <a:t>Potholes</a:t>
            </a:r>
            <a:r>
              <a:rPr spc="-75" dirty="0">
                <a:latin typeface="Tahoma"/>
                <a:cs typeface="Tahoma"/>
              </a:rPr>
              <a:t> </a:t>
            </a:r>
            <a:r>
              <a:rPr spc="-85" dirty="0">
                <a:latin typeface="Tahoma"/>
                <a:cs typeface="Tahoma"/>
              </a:rPr>
              <a:t>cause</a:t>
            </a:r>
            <a:r>
              <a:rPr spc="-65" dirty="0">
                <a:latin typeface="Tahoma"/>
                <a:cs typeface="Tahoma"/>
              </a:rPr>
              <a:t> </a:t>
            </a:r>
            <a:r>
              <a:rPr spc="-105" dirty="0">
                <a:latin typeface="Trebuchet MS"/>
                <a:cs typeface="Trebuchet MS"/>
              </a:rPr>
              <a:t>accidents,</a:t>
            </a:r>
            <a:r>
              <a:rPr spc="-125" dirty="0">
                <a:latin typeface="Trebuchet MS"/>
                <a:cs typeface="Trebuchet MS"/>
              </a:rPr>
              <a:t> </a:t>
            </a:r>
            <a:r>
              <a:rPr spc="-110" dirty="0">
                <a:latin typeface="Trebuchet MS"/>
                <a:cs typeface="Trebuchet MS"/>
              </a:rPr>
              <a:t>vehicle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100" dirty="0">
                <a:latin typeface="Trebuchet MS"/>
                <a:cs typeface="Trebuchet MS"/>
              </a:rPr>
              <a:t>damage,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spc="-80" dirty="0">
                <a:latin typeface="Trebuchet MS"/>
                <a:cs typeface="Trebuchet MS"/>
              </a:rPr>
              <a:t>and</a:t>
            </a:r>
            <a:r>
              <a:rPr spc="-110" dirty="0">
                <a:latin typeface="Trebuchet MS"/>
                <a:cs typeface="Trebuchet MS"/>
              </a:rPr>
              <a:t> </a:t>
            </a:r>
            <a:r>
              <a:rPr spc="-70" dirty="0">
                <a:latin typeface="Trebuchet MS"/>
                <a:cs typeface="Trebuchet MS"/>
              </a:rPr>
              <a:t>traffic</a:t>
            </a:r>
            <a:r>
              <a:rPr spc="-12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congestion</a:t>
            </a:r>
            <a:r>
              <a:rPr spc="-10" dirty="0">
                <a:latin typeface="Tahoma"/>
                <a:cs typeface="Tahoma"/>
              </a:rPr>
              <a:t>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Font typeface="Microsoft Sans Serif"/>
              <a:buChar char="•"/>
            </a:pPr>
            <a:endParaRPr dirty="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Font typeface="Microsoft Sans Serif"/>
              <a:buChar char="•"/>
              <a:tabLst>
                <a:tab pos="356870" algn="l"/>
              </a:tabLst>
            </a:pPr>
            <a:r>
              <a:rPr spc="-50" dirty="0">
                <a:latin typeface="Tahoma"/>
                <a:cs typeface="Tahoma"/>
              </a:rPr>
              <a:t>Current</a:t>
            </a:r>
            <a:r>
              <a:rPr spc="-105" dirty="0">
                <a:latin typeface="Tahoma"/>
                <a:cs typeface="Tahoma"/>
              </a:rPr>
              <a:t> </a:t>
            </a:r>
            <a:r>
              <a:rPr spc="-40" dirty="0">
                <a:latin typeface="Tahoma"/>
                <a:cs typeface="Tahoma"/>
              </a:rPr>
              <a:t>solutions</a:t>
            </a:r>
            <a:r>
              <a:rPr spc="-100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include </a:t>
            </a:r>
            <a:r>
              <a:rPr spc="-90" dirty="0">
                <a:latin typeface="Trebuchet MS"/>
                <a:cs typeface="Trebuchet MS"/>
              </a:rPr>
              <a:t>manual</a:t>
            </a:r>
            <a:r>
              <a:rPr spc="-80" dirty="0">
                <a:latin typeface="Trebuchet MS"/>
                <a:cs typeface="Trebuchet MS"/>
              </a:rPr>
              <a:t> </a:t>
            </a:r>
            <a:r>
              <a:rPr spc="-85" dirty="0">
                <a:latin typeface="Trebuchet MS"/>
                <a:cs typeface="Trebuchet MS"/>
              </a:rPr>
              <a:t>complaint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90" dirty="0">
                <a:latin typeface="Trebuchet MS"/>
                <a:cs typeface="Trebuchet MS"/>
              </a:rPr>
              <a:t>systems,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105" dirty="0">
                <a:latin typeface="Trebuchet MS"/>
                <a:cs typeface="Trebuchet MS"/>
              </a:rPr>
              <a:t>helplines,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65" dirty="0">
                <a:latin typeface="Trebuchet MS"/>
                <a:cs typeface="Trebuchet MS"/>
              </a:rPr>
              <a:t>or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spc="-90" dirty="0">
                <a:latin typeface="Trebuchet MS"/>
                <a:cs typeface="Trebuchet MS"/>
              </a:rPr>
              <a:t>municipal</a:t>
            </a:r>
            <a:r>
              <a:rPr spc="-114" dirty="0">
                <a:latin typeface="Trebuchet MS"/>
                <a:cs typeface="Trebuchet MS"/>
              </a:rPr>
              <a:t> </a:t>
            </a:r>
            <a:r>
              <a:rPr spc="-75" dirty="0">
                <a:latin typeface="Trebuchet MS"/>
                <a:cs typeface="Trebuchet MS"/>
              </a:rPr>
              <a:t>apps</a:t>
            </a:r>
            <a:r>
              <a:rPr spc="-75" dirty="0">
                <a:latin typeface="Tahoma"/>
                <a:cs typeface="Tahoma"/>
              </a:rPr>
              <a:t>,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45" dirty="0">
                <a:latin typeface="Tahoma"/>
                <a:cs typeface="Tahoma"/>
              </a:rPr>
              <a:t>but</a:t>
            </a:r>
            <a:r>
              <a:rPr spc="-75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adoption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is</a:t>
            </a:r>
            <a:r>
              <a:rPr spc="-75" dirty="0">
                <a:latin typeface="Tahoma"/>
                <a:cs typeface="Tahoma"/>
              </a:rPr>
              <a:t> </a:t>
            </a:r>
            <a:r>
              <a:rPr spc="-20" dirty="0">
                <a:latin typeface="Tahoma"/>
                <a:cs typeface="Tahoma"/>
              </a:rPr>
              <a:t>low.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</a:pPr>
            <a:endParaRPr dirty="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Font typeface="Microsoft Sans Serif"/>
              <a:buChar char="•"/>
              <a:tabLst>
                <a:tab pos="356870" algn="l"/>
              </a:tabLst>
            </a:pPr>
            <a:r>
              <a:rPr spc="-70" dirty="0">
                <a:latin typeface="Trebuchet MS"/>
                <a:cs typeface="Trebuchet MS"/>
              </a:rPr>
              <a:t>Problems</a:t>
            </a:r>
            <a:r>
              <a:rPr spc="-105" dirty="0">
                <a:latin typeface="Trebuchet MS"/>
                <a:cs typeface="Trebuchet MS"/>
              </a:rPr>
              <a:t> </a:t>
            </a:r>
            <a:r>
              <a:rPr spc="-100" dirty="0">
                <a:latin typeface="Trebuchet MS"/>
                <a:cs typeface="Trebuchet MS"/>
              </a:rPr>
              <a:t>with</a:t>
            </a:r>
            <a:r>
              <a:rPr spc="-105" dirty="0">
                <a:latin typeface="Trebuchet MS"/>
                <a:cs typeface="Trebuchet MS"/>
              </a:rPr>
              <a:t> </a:t>
            </a:r>
            <a:r>
              <a:rPr spc="-70" dirty="0">
                <a:latin typeface="Trebuchet MS"/>
                <a:cs typeface="Trebuchet MS"/>
              </a:rPr>
              <a:t>existing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systems</a:t>
            </a:r>
            <a:r>
              <a:rPr spc="-10" dirty="0">
                <a:latin typeface="Tahoma"/>
                <a:cs typeface="Tahoma"/>
              </a:rPr>
              <a:t>:</a:t>
            </a:r>
            <a:endParaRPr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5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spc="-10" dirty="0">
                <a:latin typeface="Trebuchet MS"/>
                <a:cs typeface="Trebuchet MS"/>
              </a:rPr>
              <a:t>Citizens’</a:t>
            </a:r>
            <a:r>
              <a:rPr spc="-8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complaints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often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go</a:t>
            </a:r>
            <a:r>
              <a:rPr spc="-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unresolved</a:t>
            </a:r>
            <a:r>
              <a:rPr spc="-4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or</a:t>
            </a:r>
            <a:r>
              <a:rPr spc="2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delayed.</a:t>
            </a:r>
            <a:endParaRPr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84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dirty="0">
                <a:latin typeface="Trebuchet MS"/>
                <a:cs typeface="Trebuchet MS"/>
              </a:rPr>
              <a:t>Lack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transparency</a:t>
            </a:r>
            <a:r>
              <a:rPr spc="-5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in</a:t>
            </a:r>
            <a:r>
              <a:rPr spc="-1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how</a:t>
            </a:r>
            <a:r>
              <a:rPr spc="-4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pothole</a:t>
            </a:r>
            <a:r>
              <a:rPr spc="-5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repairs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are</a:t>
            </a:r>
            <a:r>
              <a:rPr spc="-10" dirty="0">
                <a:latin typeface="Trebuchet MS"/>
                <a:cs typeface="Trebuchet MS"/>
              </a:rPr>
              <a:t> assigned.</a:t>
            </a:r>
            <a:endParaRPr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dirty="0">
                <a:latin typeface="Trebuchet MS"/>
                <a:cs typeface="Trebuchet MS"/>
              </a:rPr>
              <a:t>No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effective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tracking</a:t>
            </a:r>
            <a:r>
              <a:rPr spc="-8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or accountability</a:t>
            </a:r>
            <a:r>
              <a:rPr spc="-5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for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contractors.</a:t>
            </a:r>
            <a:endParaRPr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84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dirty="0">
                <a:latin typeface="Trebuchet MS"/>
                <a:cs typeface="Trebuchet MS"/>
              </a:rPr>
              <a:t>Duplicate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reports</a:t>
            </a:r>
            <a:r>
              <a:rPr spc="-5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and</a:t>
            </a:r>
            <a:r>
              <a:rPr spc="-1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false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reports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waste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government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resources.</a:t>
            </a:r>
            <a:endParaRPr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65"/>
              </a:spcBef>
              <a:buFont typeface="Microsoft Sans Serif"/>
              <a:buChar char="–"/>
            </a:pPr>
            <a:endParaRPr dirty="0">
              <a:latin typeface="Trebuchet MS"/>
              <a:cs typeface="Trebuchet MS"/>
            </a:endParaRPr>
          </a:p>
          <a:p>
            <a:pPr marL="356870" marR="389255" indent="-344805">
              <a:lnSpc>
                <a:spcPct val="100000"/>
              </a:lnSpc>
              <a:buFont typeface="Microsoft Sans Serif"/>
              <a:buChar char="•"/>
              <a:tabLst>
                <a:tab pos="356870" algn="l"/>
              </a:tabLst>
            </a:pPr>
            <a:r>
              <a:rPr dirty="0">
                <a:latin typeface="Tahoma"/>
                <a:cs typeface="Tahoma"/>
              </a:rPr>
              <a:t>ML-</a:t>
            </a:r>
            <a:r>
              <a:rPr spc="-85" dirty="0">
                <a:latin typeface="Tahoma"/>
                <a:cs typeface="Tahoma"/>
              </a:rPr>
              <a:t>based</a:t>
            </a:r>
            <a:r>
              <a:rPr spc="-75" dirty="0">
                <a:latin typeface="Tahoma"/>
                <a:cs typeface="Tahoma"/>
              </a:rPr>
              <a:t> </a:t>
            </a:r>
            <a:r>
              <a:rPr spc="-90" dirty="0">
                <a:latin typeface="Tahoma"/>
                <a:cs typeface="Tahoma"/>
              </a:rPr>
              <a:t>image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55" dirty="0">
                <a:latin typeface="Tahoma"/>
                <a:cs typeface="Tahoma"/>
              </a:rPr>
              <a:t>validation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spc="-85" dirty="0">
                <a:latin typeface="Tahoma"/>
                <a:cs typeface="Tahoma"/>
              </a:rPr>
              <a:t>and</a:t>
            </a:r>
            <a:r>
              <a:rPr spc="-95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smart</a:t>
            </a:r>
            <a:r>
              <a:rPr spc="-95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workflows</a:t>
            </a:r>
            <a:r>
              <a:rPr spc="-120" dirty="0">
                <a:latin typeface="Tahoma"/>
                <a:cs typeface="Tahoma"/>
              </a:rPr>
              <a:t> </a:t>
            </a:r>
            <a:r>
              <a:rPr spc="-80" dirty="0">
                <a:latin typeface="Tahoma"/>
                <a:cs typeface="Tahoma"/>
              </a:rPr>
              <a:t>are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still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spc="-70" dirty="0">
                <a:latin typeface="Trebuchet MS"/>
                <a:cs typeface="Trebuchet MS"/>
              </a:rPr>
              <a:t>not</a:t>
            </a:r>
            <a:r>
              <a:rPr spc="-120" dirty="0">
                <a:latin typeface="Trebuchet MS"/>
                <a:cs typeface="Trebuchet MS"/>
              </a:rPr>
              <a:t> </a:t>
            </a:r>
            <a:r>
              <a:rPr spc="-105" dirty="0">
                <a:latin typeface="Trebuchet MS"/>
                <a:cs typeface="Trebuchet MS"/>
              </a:rPr>
              <a:t>widely</a:t>
            </a:r>
            <a:r>
              <a:rPr spc="-90" dirty="0">
                <a:latin typeface="Trebuchet MS"/>
                <a:cs typeface="Trebuchet MS"/>
              </a:rPr>
              <a:t> integrated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spc="-40" dirty="0">
                <a:latin typeface="Tahoma"/>
                <a:cs typeface="Tahoma"/>
              </a:rPr>
              <a:t>in</a:t>
            </a:r>
            <a:r>
              <a:rPr spc="-110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real-time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pothole management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2838" y="506006"/>
            <a:ext cx="2466975" cy="1010285"/>
            <a:chOff x="512838" y="506006"/>
            <a:chExt cx="2466975" cy="1010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838" y="789253"/>
              <a:ext cx="444805" cy="3398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272" y="506006"/>
              <a:ext cx="2327020" cy="101024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2269" y="2390089"/>
            <a:ext cx="8080375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73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Daily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observation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unsafe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roads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with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unreported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potholes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Frequent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road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accidents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due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potholes,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especially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urban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India.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sz="1800" spc="-10" dirty="0">
                <a:latin typeface="Trebuchet MS"/>
                <a:cs typeface="Trebuchet MS"/>
              </a:rPr>
              <a:t>Citizens’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complaints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often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ignored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lost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bureaucratic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processes.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Corruption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inefficiency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assignments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fund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usage.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Need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transparent,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automated,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accountable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platform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where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every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reported,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tracked,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repaired.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474" y="874299"/>
            <a:ext cx="2060921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9678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4144" y="1957832"/>
            <a:ext cx="8293100" cy="4521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81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	Provide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easy-to-</a:t>
            </a:r>
            <a:r>
              <a:rPr sz="1800" b="1" dirty="0">
                <a:latin typeface="Trebuchet MS"/>
                <a:cs typeface="Trebuchet MS"/>
              </a:rPr>
              <a:t>use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platform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location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&amp; </a:t>
            </a:r>
            <a:r>
              <a:rPr sz="1800" spc="-10" dirty="0">
                <a:latin typeface="Trebuchet MS"/>
                <a:cs typeface="Trebuchet MS"/>
              </a:rPr>
              <a:t>images.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Machine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Learning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(YOLO)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validate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pothole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presence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and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classify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severity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Enable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government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officials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efficiently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verify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track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reports.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Create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transparent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bidding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system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ensure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fair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pricing.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Integrate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donation/funding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support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community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participation.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Ensure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accountability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quality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control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through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penalties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performance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tracking.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Provide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dashboards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analytics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citizens,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government,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contractors.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569925"/>
            <a:ext cx="8273542" cy="9035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57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Literature</a:t>
            </a:r>
            <a:r>
              <a:rPr sz="3200" spc="-105" dirty="0"/>
              <a:t> </a:t>
            </a:r>
            <a:r>
              <a:rPr sz="3200" dirty="0"/>
              <a:t>Survey</a:t>
            </a:r>
            <a:r>
              <a:rPr sz="3200" spc="-60" dirty="0"/>
              <a:t> </a:t>
            </a:r>
            <a:r>
              <a:rPr sz="3200" dirty="0"/>
              <a:t>of</a:t>
            </a:r>
            <a:r>
              <a:rPr sz="3200" spc="-70" dirty="0"/>
              <a:t> </a:t>
            </a:r>
            <a:r>
              <a:rPr sz="3200" dirty="0"/>
              <a:t>the</a:t>
            </a:r>
            <a:r>
              <a:rPr sz="3200" spc="-70" dirty="0"/>
              <a:t> </a:t>
            </a:r>
            <a:r>
              <a:rPr sz="3200" dirty="0"/>
              <a:t>existing</a:t>
            </a:r>
            <a:r>
              <a:rPr sz="3200" spc="-80" dirty="0"/>
              <a:t> </a:t>
            </a:r>
            <a:r>
              <a:rPr sz="3200" spc="-20" dirty="0"/>
              <a:t>ML</a:t>
            </a:r>
            <a:r>
              <a:rPr sz="3200" spc="-180" dirty="0"/>
              <a:t> </a:t>
            </a:r>
            <a:r>
              <a:rPr sz="3200" spc="-10" dirty="0"/>
              <a:t>Models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597509" y="1753057"/>
            <a:ext cx="8749665" cy="44151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Trebuchet MS"/>
                <a:cs typeface="Trebuchet MS"/>
              </a:rPr>
              <a:t>Pothole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Reporting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System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(Honors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Research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Project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#242,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Univ.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Akron)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850"/>
              </a:lnSpc>
            </a:pP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Modern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Detection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Technique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using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Deep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Learning —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Chakrapani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et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al.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(IEEE,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ID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850"/>
              </a:lnSpc>
            </a:pPr>
            <a:r>
              <a:rPr sz="1600" spc="-10" dirty="0">
                <a:latin typeface="Trebuchet MS"/>
                <a:cs typeface="Trebuchet MS"/>
              </a:rPr>
              <a:t>9170705)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600">
              <a:latin typeface="Trebuchet MS"/>
              <a:cs typeface="Trebuchet MS"/>
            </a:endParaRPr>
          </a:p>
          <a:p>
            <a:pPr marL="12700" marR="69850">
              <a:lnSpc>
                <a:spcPts val="1800"/>
              </a:lnSpc>
            </a:pPr>
            <a:r>
              <a:rPr sz="1600" dirty="0">
                <a:latin typeface="Trebuchet MS"/>
                <a:cs typeface="Trebuchet MS"/>
              </a:rPr>
              <a:t>Severity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Estimation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Potholes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Imagery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Using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Convolutional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Neural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Networks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—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Vernon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Kok, </a:t>
            </a:r>
            <a:r>
              <a:rPr sz="1600" dirty="0">
                <a:latin typeface="Trebuchet MS"/>
                <a:cs typeface="Trebuchet MS"/>
              </a:rPr>
              <a:t>Nontokozo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Mpofu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Micheal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Olusanya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860"/>
              </a:lnSpc>
              <a:spcBef>
                <a:spcPts val="5"/>
              </a:spcBef>
            </a:pPr>
            <a:r>
              <a:rPr sz="1600" dirty="0">
                <a:latin typeface="Trebuchet MS"/>
                <a:cs typeface="Trebuchet MS"/>
              </a:rPr>
              <a:t>Road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Damage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Detection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Reporting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System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Using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YOLOv7: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Enhancing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Public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Participation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in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860"/>
              </a:lnSpc>
            </a:pPr>
            <a:r>
              <a:rPr sz="1600" dirty="0">
                <a:latin typeface="Trebuchet MS"/>
                <a:cs typeface="Trebuchet MS"/>
              </a:rPr>
              <a:t>Infrastructure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Maintenance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—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Nizamiyati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et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al.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600">
              <a:latin typeface="Trebuchet MS"/>
              <a:cs typeface="Trebuchet MS"/>
            </a:endParaRPr>
          </a:p>
          <a:p>
            <a:pPr marL="64135">
              <a:lnSpc>
                <a:spcPts val="1850"/>
              </a:lnSpc>
            </a:pPr>
            <a:r>
              <a:rPr sz="1600" dirty="0">
                <a:latin typeface="Trebuchet MS"/>
                <a:cs typeface="Trebuchet MS"/>
              </a:rPr>
              <a:t>A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Real-</a:t>
            </a:r>
            <a:r>
              <a:rPr sz="1600" dirty="0">
                <a:latin typeface="Trebuchet MS"/>
                <a:cs typeface="Trebuchet MS"/>
              </a:rPr>
              <a:t>Time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Detection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System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Road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Damage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Detection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Classification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—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Anchuri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850"/>
              </a:lnSpc>
            </a:pPr>
            <a:r>
              <a:rPr sz="1600" dirty="0">
                <a:latin typeface="Trebuchet MS"/>
                <a:cs typeface="Trebuchet MS"/>
              </a:rPr>
              <a:t>Manaswiprasad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et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al.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500" y="123825"/>
            <a:ext cx="8074482" cy="1066037"/>
          </a:xfrm>
          <a:prstGeom prst="rect">
            <a:avLst/>
          </a:prstGeom>
        </p:spPr>
        <p:txBody>
          <a:bodyPr vert="horz" wrap="square" lIns="0" tIns="45562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Outcome</a:t>
            </a:r>
            <a:r>
              <a:rPr sz="2800" spc="-20" dirty="0"/>
              <a:t> </a:t>
            </a:r>
            <a:r>
              <a:rPr sz="2800" dirty="0"/>
              <a:t>of</a:t>
            </a:r>
            <a:r>
              <a:rPr sz="2800" spc="-35" dirty="0"/>
              <a:t> </a:t>
            </a:r>
            <a:r>
              <a:rPr sz="2800" dirty="0"/>
              <a:t>Literature</a:t>
            </a:r>
            <a:r>
              <a:rPr sz="2800" spc="-90" dirty="0"/>
              <a:t> </a:t>
            </a:r>
            <a:r>
              <a:rPr sz="2800" dirty="0"/>
              <a:t>survey</a:t>
            </a:r>
            <a:r>
              <a:rPr sz="2800" spc="-55" dirty="0"/>
              <a:t> </a:t>
            </a:r>
            <a:r>
              <a:rPr sz="2800" dirty="0"/>
              <a:t>(Pothole</a:t>
            </a:r>
            <a:r>
              <a:rPr sz="2800" spc="-65" dirty="0"/>
              <a:t> </a:t>
            </a:r>
            <a:r>
              <a:rPr sz="2800" spc="-10" dirty="0"/>
              <a:t>ML</a:t>
            </a:r>
            <a:r>
              <a:rPr sz="2800" spc="-175" dirty="0"/>
              <a:t> </a:t>
            </a:r>
            <a:r>
              <a:rPr sz="2800" spc="-10" dirty="0"/>
              <a:t>Models)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630237" y="1571625"/>
            <a:ext cx="8823325" cy="5239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095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Deep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Learning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Improves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Detection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Accuracy: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CNN-</a:t>
            </a:r>
            <a:r>
              <a:rPr sz="1800" dirty="0">
                <a:latin typeface="Trebuchet MS"/>
                <a:cs typeface="Trebuchet MS"/>
              </a:rPr>
              <a:t>based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YOLO-based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models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accurately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detect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damage,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outperforming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traditional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image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processing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methods.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Severity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Estimation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Is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Feasible: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severity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estimated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image-</a:t>
            </a:r>
            <a:r>
              <a:rPr sz="1800" dirty="0">
                <a:latin typeface="Trebuchet MS"/>
                <a:cs typeface="Trebuchet MS"/>
              </a:rPr>
              <a:t>based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models,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enabling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prioritization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repair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informed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decision-</a:t>
            </a:r>
            <a:r>
              <a:rPr sz="1800" dirty="0">
                <a:latin typeface="Trebuchet MS"/>
                <a:cs typeface="Trebuchet MS"/>
              </a:rPr>
              <a:t>making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maintenance.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Environmental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Contextual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Factors</a:t>
            </a:r>
            <a:r>
              <a:rPr sz="1800" b="1" spc="-11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Affect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Performance:</a:t>
            </a:r>
            <a:endParaRPr sz="1800" dirty="0">
              <a:latin typeface="Trebuchet MS"/>
              <a:cs typeface="Trebuchet MS"/>
            </a:endParaRPr>
          </a:p>
          <a:p>
            <a:pPr marL="12700" marR="939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Lighting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conditions,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shadows,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weather,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camera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angles,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vehicle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speed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reduce </a:t>
            </a:r>
            <a:r>
              <a:rPr sz="1800" dirty="0">
                <a:latin typeface="Trebuchet MS"/>
                <a:cs typeface="Trebuchet MS"/>
              </a:rPr>
              <a:t>detection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accuracy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lead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misclassification.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spc="-10" dirty="0">
                <a:latin typeface="Trebuchet MS"/>
                <a:cs typeface="Trebuchet MS"/>
              </a:rPr>
              <a:t>Generalization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Limitations:</a:t>
            </a:r>
            <a:endParaRPr sz="1800" dirty="0">
              <a:latin typeface="Trebuchet MS"/>
              <a:cs typeface="Trebuchet MS"/>
            </a:endParaRPr>
          </a:p>
          <a:p>
            <a:pPr marL="12700" marR="35052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Models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trained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specific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datasets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may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not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perform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well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across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different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regions,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types,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conditions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limited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diversity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training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data.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Public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Participation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Data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Quality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Are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Key:</a:t>
            </a:r>
            <a:endParaRPr sz="1800" dirty="0">
              <a:latin typeface="Trebuchet MS"/>
              <a:cs typeface="Trebuchet MS"/>
            </a:endParaRPr>
          </a:p>
          <a:p>
            <a:pPr marL="12700" marR="4953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Citizen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enhance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coverage,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but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variability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image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quality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GPS </a:t>
            </a:r>
            <a:r>
              <a:rPr sz="1800" dirty="0">
                <a:latin typeface="Trebuchet MS"/>
                <a:cs typeface="Trebuchet MS"/>
              </a:rPr>
              <a:t>accuracy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impact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model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performance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reliability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system.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949" y="779811"/>
            <a:ext cx="5062742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dirty="0"/>
              <a:t>Name of</a:t>
            </a:r>
            <a:r>
              <a:rPr spc="-25" dirty="0"/>
              <a:t> </a:t>
            </a:r>
            <a:r>
              <a:rPr dirty="0"/>
              <a:t>Existing</a:t>
            </a:r>
            <a:r>
              <a:rPr spc="-1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3592" y="2313178"/>
            <a:ext cx="8723630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810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	CPRAMS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(Centralized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Public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Grievance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Redress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Monitoring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System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– </a:t>
            </a:r>
            <a:r>
              <a:rPr sz="1800" b="1" dirty="0">
                <a:latin typeface="Trebuchet MS"/>
                <a:cs typeface="Trebuchet MS"/>
              </a:rPr>
              <a:t>Nationwide)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Allows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lodge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civic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complaints,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including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potholes, </a:t>
            </a:r>
            <a:r>
              <a:rPr sz="1800" dirty="0">
                <a:latin typeface="Trebuchet MS"/>
                <a:cs typeface="Trebuchet MS"/>
              </a:rPr>
              <a:t>across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India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government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departments.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2700" marR="787400" indent="-381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	Meri</a:t>
            </a:r>
            <a:r>
              <a:rPr sz="1800" b="1" spc="-9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Sadak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(Nationwide)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central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government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app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provide </a:t>
            </a:r>
            <a:r>
              <a:rPr sz="1800" dirty="0">
                <a:latin typeface="Trebuchet MS"/>
                <a:cs typeface="Trebuchet MS"/>
              </a:rPr>
              <a:t>feedback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quality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issues,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especially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under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PMGSY.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Pothole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QuickFix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(BMC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Mumbai)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Mumbai-</a:t>
            </a:r>
            <a:r>
              <a:rPr sz="1800" dirty="0">
                <a:latin typeface="Trebuchet MS"/>
                <a:cs typeface="Trebuchet MS"/>
              </a:rPr>
              <a:t>specific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app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geotag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report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potholes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directly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Brihanmumbai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Municipal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Corporation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quicker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repairs.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763270" indent="-444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	PCMC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Pothole</a:t>
            </a:r>
            <a:r>
              <a:rPr sz="1800" b="1" spc="-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App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(Pune)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dedicated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app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Pimpri-</a:t>
            </a:r>
            <a:r>
              <a:rPr sz="1800" dirty="0">
                <a:latin typeface="Trebuchet MS"/>
                <a:cs typeface="Trebuchet MS"/>
              </a:rPr>
              <a:t>Chinchwad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Municipal </a:t>
            </a:r>
            <a:r>
              <a:rPr sz="1800" dirty="0">
                <a:latin typeface="Trebuchet MS"/>
                <a:cs typeface="Trebuchet MS"/>
              </a:rPr>
              <a:t>Corporation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photos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live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tracking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of </a:t>
            </a:r>
            <a:r>
              <a:rPr sz="1800" dirty="0">
                <a:latin typeface="Trebuchet MS"/>
                <a:cs typeface="Trebuchet MS"/>
              </a:rPr>
              <a:t>complaint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status.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315" y="779811"/>
            <a:ext cx="6167184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dirty="0"/>
              <a:t>Limitations</a:t>
            </a:r>
            <a:r>
              <a:rPr spc="-4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Existing</a:t>
            </a:r>
            <a:r>
              <a:rPr spc="-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3700" y="1647825"/>
            <a:ext cx="8739505" cy="6522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095" algn="just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600" b="1" dirty="0">
                <a:latin typeface="Trebuchet MS"/>
                <a:cs typeface="Trebuchet MS"/>
              </a:rPr>
              <a:t>Delayed</a:t>
            </a:r>
            <a:r>
              <a:rPr sz="1600" b="1" spc="32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action</a:t>
            </a:r>
            <a:r>
              <a:rPr sz="1600" b="1" spc="3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3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Even</a:t>
            </a:r>
            <a:r>
              <a:rPr sz="1600" spc="3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after</a:t>
            </a:r>
            <a:r>
              <a:rPr sz="1600" spc="2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reporting,</a:t>
            </a:r>
            <a:r>
              <a:rPr sz="1600" spc="3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potholes</a:t>
            </a:r>
            <a:r>
              <a:rPr sz="1600" spc="29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may</a:t>
            </a:r>
            <a:r>
              <a:rPr sz="1600" spc="3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take</a:t>
            </a:r>
            <a:r>
              <a:rPr sz="1600" spc="3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weeks/months</a:t>
            </a:r>
            <a:r>
              <a:rPr sz="1600" spc="3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to</a:t>
            </a:r>
            <a:r>
              <a:rPr sz="1600" spc="31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be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fixed.</a:t>
            </a:r>
            <a:endParaRPr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33985" indent="-125095" algn="just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600" b="1" dirty="0">
                <a:latin typeface="Trebuchet MS"/>
                <a:cs typeface="Trebuchet MS"/>
              </a:rPr>
              <a:t>Low</a:t>
            </a:r>
            <a:r>
              <a:rPr sz="1600" b="1" spc="1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accountability</a:t>
            </a:r>
            <a:r>
              <a:rPr sz="1600" b="1" spc="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Complaints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are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sometimes marked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“resolved”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without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actual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repair;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stringent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measures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resolution.</a:t>
            </a:r>
            <a:endParaRPr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33985" indent="-125095" algn="just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  <a:tab pos="563880" algn="l"/>
                <a:tab pos="1863089" algn="l"/>
                <a:tab pos="2298700" algn="l"/>
                <a:tab pos="3622040" algn="l"/>
                <a:tab pos="3856990" algn="l"/>
                <a:tab pos="4527550" algn="l"/>
                <a:tab pos="5457825" algn="l"/>
                <a:tab pos="6338570" algn="l"/>
                <a:tab pos="6908800" algn="l"/>
                <a:tab pos="7387590" algn="l"/>
                <a:tab pos="8482330" algn="l"/>
              </a:tabLst>
            </a:pPr>
            <a:r>
              <a:rPr sz="1600" b="1" spc="-25" dirty="0">
                <a:latin typeface="Trebuchet MS"/>
                <a:cs typeface="Trebuchet MS"/>
              </a:rPr>
              <a:t>No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automated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25" dirty="0">
                <a:latin typeface="Trebuchet MS"/>
                <a:cs typeface="Trebuchet MS"/>
              </a:rPr>
              <a:t>ML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integration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–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False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pothole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reports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may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get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assigned;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no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automated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model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to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verify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authenticity.</a:t>
            </a:r>
            <a:endParaRPr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33985" indent="-125095" algn="just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600" b="1" spc="-20" dirty="0">
                <a:latin typeface="Trebuchet MS"/>
                <a:cs typeface="Trebuchet MS"/>
              </a:rPr>
              <a:t>Technical</a:t>
            </a:r>
            <a:r>
              <a:rPr sz="1600" b="1" spc="-1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glitches</a:t>
            </a:r>
            <a:r>
              <a:rPr sz="1600" b="1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Apps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often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crash, have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GPS/photo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upload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issues,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or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don’t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send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proper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updates.</a:t>
            </a:r>
            <a:endParaRPr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33985" indent="-125095" algn="just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  <a:tab pos="793115" algn="l"/>
                <a:tab pos="1177290" algn="l"/>
                <a:tab pos="2985135" algn="l"/>
                <a:tab pos="3237865" algn="l"/>
                <a:tab pos="3954779" algn="l"/>
                <a:tab pos="5408930" algn="l"/>
                <a:tab pos="6470015" algn="l"/>
                <a:tab pos="7506334" algn="l"/>
              </a:tabLst>
            </a:pPr>
            <a:r>
              <a:rPr sz="1600" b="1" spc="-20" dirty="0">
                <a:latin typeface="Trebuchet MS"/>
                <a:cs typeface="Trebuchet MS"/>
              </a:rPr>
              <a:t>Lack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25" dirty="0">
                <a:latin typeface="Trebuchet MS"/>
                <a:cs typeface="Trebuchet MS"/>
              </a:rPr>
              <a:t>of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communication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–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0" dirty="0">
                <a:latin typeface="Trebuchet MS"/>
                <a:cs typeface="Trebuchet MS"/>
              </a:rPr>
              <a:t>Weak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coordination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between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citizens,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government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officials,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contractors;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democratized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or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gamified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feedback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feature.</a:t>
            </a:r>
            <a:endParaRPr lang="en-US" sz="1600" spc="-1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endParaRPr lang="en-US" sz="1600" spc="-10" dirty="0">
              <a:latin typeface="Trebuchet MS"/>
              <a:cs typeface="Trebuchet MS"/>
            </a:endParaRPr>
          </a:p>
          <a:p>
            <a:pPr marL="133985" indent="-125730" algn="just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lang="en-US" sz="1600" b="1" dirty="0">
                <a:latin typeface="Trebuchet MS"/>
                <a:cs typeface="Trebuchet MS"/>
              </a:rPr>
              <a:t>No</a:t>
            </a:r>
            <a:r>
              <a:rPr lang="en-US" sz="1600" b="1" spc="190" dirty="0">
                <a:latin typeface="Trebuchet MS"/>
                <a:cs typeface="Trebuchet MS"/>
              </a:rPr>
              <a:t> </a:t>
            </a:r>
            <a:r>
              <a:rPr lang="en-US" sz="1600" b="1" dirty="0">
                <a:latin typeface="Trebuchet MS"/>
                <a:cs typeface="Trebuchet MS"/>
              </a:rPr>
              <a:t>contractor</a:t>
            </a:r>
            <a:r>
              <a:rPr lang="en-US" sz="1600" b="1" spc="210" dirty="0">
                <a:latin typeface="Trebuchet MS"/>
                <a:cs typeface="Trebuchet MS"/>
              </a:rPr>
              <a:t> </a:t>
            </a:r>
            <a:r>
              <a:rPr lang="en-US" sz="1600" b="1" dirty="0">
                <a:latin typeface="Trebuchet MS"/>
                <a:cs typeface="Trebuchet MS"/>
              </a:rPr>
              <a:t>penalties</a:t>
            </a:r>
            <a:r>
              <a:rPr lang="en-US" sz="1600" b="1" spc="18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–</a:t>
            </a:r>
            <a:r>
              <a:rPr lang="en-US" sz="1600" spc="21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Contractors</a:t>
            </a:r>
            <a:r>
              <a:rPr lang="en-US" sz="1600" spc="19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are</a:t>
            </a:r>
            <a:r>
              <a:rPr lang="en-US" sz="1600" spc="20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rarely</a:t>
            </a:r>
            <a:r>
              <a:rPr lang="en-US" sz="1600" spc="20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penalized</a:t>
            </a:r>
            <a:r>
              <a:rPr lang="en-US" sz="1600" spc="21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for</a:t>
            </a:r>
            <a:r>
              <a:rPr lang="en-US" sz="1600" spc="17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poor</a:t>
            </a:r>
            <a:r>
              <a:rPr lang="en-US" sz="1600" spc="17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or</a:t>
            </a:r>
            <a:r>
              <a:rPr lang="en-US" sz="1600" spc="175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temporary</a:t>
            </a:r>
            <a:endParaRPr lang="en-US"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lang="en-US" sz="1600" dirty="0">
                <a:latin typeface="Trebuchet MS"/>
                <a:cs typeface="Trebuchet MS"/>
              </a:rPr>
              <a:t>repair</a:t>
            </a:r>
            <a:r>
              <a:rPr lang="en-US" sz="1600" spc="-80" dirty="0">
                <a:latin typeface="Trebuchet MS"/>
                <a:cs typeface="Trebuchet MS"/>
              </a:rPr>
              <a:t> </a:t>
            </a:r>
            <a:r>
              <a:rPr lang="en-US" sz="1600" spc="-20" dirty="0">
                <a:latin typeface="Trebuchet MS"/>
                <a:cs typeface="Trebuchet MS"/>
              </a:rPr>
              <a:t>work.</a:t>
            </a:r>
            <a:endParaRPr lang="en-US"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65"/>
              </a:spcBef>
            </a:pPr>
            <a:endParaRPr lang="en-US" sz="1600" dirty="0">
              <a:latin typeface="Trebuchet MS"/>
              <a:cs typeface="Trebuchet MS"/>
            </a:endParaRPr>
          </a:p>
          <a:p>
            <a:pPr marL="133985" indent="-125730" algn="just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lang="en-US" sz="1600" b="1" dirty="0">
                <a:latin typeface="Trebuchet MS"/>
                <a:cs typeface="Trebuchet MS"/>
              </a:rPr>
              <a:t>No</a:t>
            </a:r>
            <a:r>
              <a:rPr lang="en-US" sz="1600" b="1" spc="254" dirty="0">
                <a:latin typeface="Trebuchet MS"/>
                <a:cs typeface="Trebuchet MS"/>
              </a:rPr>
              <a:t> </a:t>
            </a:r>
            <a:r>
              <a:rPr lang="en-US" sz="1600" b="1" dirty="0">
                <a:latin typeface="Trebuchet MS"/>
                <a:cs typeface="Trebuchet MS"/>
              </a:rPr>
              <a:t>bidding</a:t>
            </a:r>
            <a:r>
              <a:rPr lang="en-US" sz="1600" b="1" spc="260" dirty="0">
                <a:latin typeface="Trebuchet MS"/>
                <a:cs typeface="Trebuchet MS"/>
              </a:rPr>
              <a:t> </a:t>
            </a:r>
            <a:r>
              <a:rPr lang="en-US" sz="1600" b="1" dirty="0">
                <a:latin typeface="Trebuchet MS"/>
                <a:cs typeface="Trebuchet MS"/>
              </a:rPr>
              <a:t>system</a:t>
            </a:r>
            <a:r>
              <a:rPr lang="en-US" sz="1600" b="1" spc="26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–</a:t>
            </a:r>
            <a:r>
              <a:rPr lang="en-US" sz="1600" spc="25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Lack</a:t>
            </a:r>
            <a:r>
              <a:rPr lang="en-US" sz="1600" spc="27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of</a:t>
            </a:r>
            <a:r>
              <a:rPr lang="en-US" sz="1600" spc="25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transparent</a:t>
            </a:r>
            <a:r>
              <a:rPr lang="en-US" sz="1600" spc="28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bidding</a:t>
            </a:r>
            <a:r>
              <a:rPr lang="en-US" sz="1600" spc="25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among</a:t>
            </a:r>
            <a:r>
              <a:rPr lang="en-US" sz="1600" spc="25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contractors</a:t>
            </a:r>
            <a:r>
              <a:rPr lang="en-US" sz="1600" spc="26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for</a:t>
            </a:r>
            <a:r>
              <a:rPr lang="en-US" sz="1600" spc="260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efficient</a:t>
            </a:r>
            <a:endParaRPr lang="en-US"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lang="en-US" sz="1600" dirty="0">
                <a:latin typeface="Trebuchet MS"/>
                <a:cs typeface="Trebuchet MS"/>
              </a:rPr>
              <a:t>and</a:t>
            </a:r>
            <a:r>
              <a:rPr lang="en-US" sz="1600" spc="-25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cost-</a:t>
            </a:r>
            <a:r>
              <a:rPr lang="en-US" sz="1600" dirty="0">
                <a:latin typeface="Trebuchet MS"/>
                <a:cs typeface="Trebuchet MS"/>
              </a:rPr>
              <a:t>effective</a:t>
            </a:r>
            <a:r>
              <a:rPr lang="en-US" sz="1600" spc="-6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pothole</a:t>
            </a:r>
            <a:r>
              <a:rPr lang="en-US" sz="1600" spc="-25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repair.</a:t>
            </a:r>
            <a:endParaRPr lang="en-US"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0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0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0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6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6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8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408" y="871024"/>
            <a:ext cx="4080349" cy="3797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0722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Problem</a:t>
            </a:r>
            <a:r>
              <a:rPr sz="3950" spc="-55" dirty="0"/>
              <a:t> </a:t>
            </a:r>
            <a:r>
              <a:rPr sz="3950" spc="-10" dirty="0"/>
              <a:t>statement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655116" y="2219909"/>
            <a:ext cx="877443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India’s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pothole</a:t>
            </a:r>
            <a:r>
              <a:rPr sz="2400" spc="7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problem</a:t>
            </a:r>
            <a:r>
              <a:rPr sz="2400" spc="7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persists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despite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existing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apps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like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CPRAMS,</a:t>
            </a:r>
            <a:r>
              <a:rPr sz="2400" spc="50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Meri</a:t>
            </a:r>
            <a:r>
              <a:rPr sz="2400" spc="50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Sadak,</a:t>
            </a:r>
            <a:r>
              <a:rPr sz="2400" spc="5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Pothole</a:t>
            </a:r>
            <a:r>
              <a:rPr sz="2400" spc="48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QuickFix,</a:t>
            </a:r>
            <a:r>
              <a:rPr sz="2400" spc="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spc="5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PCMC</a:t>
            </a:r>
            <a:r>
              <a:rPr sz="2400" spc="5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Pothole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App.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Current</a:t>
            </a:r>
            <a:r>
              <a:rPr sz="2400" spc="3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face</a:t>
            </a:r>
            <a:r>
              <a:rPr sz="2400" spc="3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issues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delayed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action,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poor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accountability,</a:t>
            </a:r>
            <a:r>
              <a:rPr sz="24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limited</a:t>
            </a:r>
            <a:r>
              <a:rPr sz="24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coverage,</a:t>
            </a:r>
            <a:r>
              <a:rPr sz="24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technical</a:t>
            </a:r>
            <a:r>
              <a:rPr sz="24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glitches,</a:t>
            </a:r>
            <a:r>
              <a:rPr sz="24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lack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contractor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penalties.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They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also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miss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advanced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features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like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ML-based</a:t>
            </a:r>
            <a:r>
              <a:rPr sz="2400" spc="10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authenticity</a:t>
            </a:r>
            <a:r>
              <a:rPr sz="2400" spc="10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checks,</a:t>
            </a:r>
            <a:r>
              <a:rPr sz="2400" spc="11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severity-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2400" spc="10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prioritization,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transparent</a:t>
            </a:r>
            <a:r>
              <a:rPr sz="2400" spc="54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bidding,</a:t>
            </a:r>
            <a:r>
              <a:rPr sz="2400" spc="52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gamified</a:t>
            </a:r>
            <a:r>
              <a:rPr sz="2400" spc="54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citizen</a:t>
            </a:r>
            <a:r>
              <a:rPr sz="2400" spc="54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engagement,</a:t>
            </a:r>
            <a:r>
              <a:rPr sz="2400" spc="54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community/NGO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fund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crowdsourcing.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results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inefficient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reporting</a:t>
            </a:r>
            <a:r>
              <a:rPr sz="2400" spc="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weak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resolution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mechanisms,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leaving</a:t>
            </a:r>
            <a:r>
              <a:rPr sz="24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potholes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largely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unaddressed.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535" y="779811"/>
            <a:ext cx="2831740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5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7" name="Picture 6" descr="A diagram of a company">
            <a:extLst>
              <a:ext uri="{FF2B5EF4-FFF2-40B4-BE49-F238E27FC236}">
                <a16:creationId xmlns:a16="http://schemas.microsoft.com/office/drawing/2014/main" id="{1982E657-8BDC-85C4-5022-A78566474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56" y="1878233"/>
            <a:ext cx="9204288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3700" y="352425"/>
            <a:ext cx="8074482" cy="711862"/>
          </a:xfrm>
          <a:prstGeom prst="rect">
            <a:avLst/>
          </a:prstGeom>
        </p:spPr>
        <p:txBody>
          <a:bodyPr vert="horz" wrap="square" lIns="0" tIns="102997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Expla</a:t>
            </a:r>
            <a:r>
              <a:rPr lang="en-US" sz="3950" dirty="0"/>
              <a:t>nation</a:t>
            </a:r>
            <a:r>
              <a:rPr sz="3950" spc="25" dirty="0"/>
              <a:t> </a:t>
            </a:r>
            <a:r>
              <a:rPr sz="3950" dirty="0"/>
              <a:t>of</a:t>
            </a:r>
            <a:r>
              <a:rPr sz="3950" spc="25" dirty="0"/>
              <a:t> </a:t>
            </a:r>
            <a:r>
              <a:rPr sz="3950" dirty="0"/>
              <a:t>System</a:t>
            </a:r>
            <a:r>
              <a:rPr sz="3950" spc="45" dirty="0"/>
              <a:t> </a:t>
            </a:r>
            <a:r>
              <a:rPr sz="3950" spc="-10" dirty="0"/>
              <a:t>design</a:t>
            </a:r>
            <a:endParaRPr sz="3950" dirty="0"/>
          </a:p>
        </p:txBody>
      </p:sp>
      <p:sp>
        <p:nvSpPr>
          <p:cNvPr id="6" name="object 6"/>
          <p:cNvSpPr txBox="1"/>
          <p:nvPr/>
        </p:nvSpPr>
        <p:spPr>
          <a:xfrm>
            <a:off x="383988" y="1571625"/>
            <a:ext cx="8829040" cy="501547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8745" indent="-112395">
              <a:lnSpc>
                <a:spcPct val="100000"/>
              </a:lnSpc>
              <a:spcBef>
                <a:spcPts val="110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Multi-role</a:t>
            </a:r>
            <a:r>
              <a:rPr sz="1600" b="1" spc="-9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Platform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Citizens,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Contractors,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Government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Officers,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Admin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with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role-</a:t>
            </a:r>
            <a:r>
              <a:rPr sz="1600" spc="-10" dirty="0">
                <a:latin typeface="Trebuchet MS"/>
                <a:cs typeface="Trebuchet MS"/>
              </a:rPr>
              <a:t>based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dashboards.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Secure</a:t>
            </a:r>
            <a:r>
              <a:rPr sz="1600" b="1" spc="-9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Authentication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Email OTP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Google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Sign-In;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contractors/government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need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admin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approval.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spcBef>
                <a:spcPts val="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Smart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Pothole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Reporting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Mapbox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pin +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reverse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geocoding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+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photo</a:t>
            </a:r>
            <a:r>
              <a:rPr sz="1600" spc="-10" dirty="0">
                <a:latin typeface="Trebuchet MS"/>
                <a:cs typeface="Trebuchet MS"/>
              </a:rPr>
              <a:t> upload.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ML</a:t>
            </a:r>
            <a:r>
              <a:rPr sz="1600" b="1" spc="-8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Validation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YOLOv11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detects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potholes</a:t>
            </a:r>
            <a:r>
              <a:rPr lang="en-US" sz="1600" dirty="0">
                <a:latin typeface="Trebuchet MS"/>
                <a:cs typeface="Trebuchet MS"/>
              </a:rPr>
              <a:t> and classifies severity</a:t>
            </a:r>
            <a:br>
              <a:rPr lang="en-US" sz="1600" dirty="0">
                <a:latin typeface="Trebuchet MS"/>
                <a:cs typeface="Trebuchet MS"/>
              </a:rPr>
            </a:b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spcBef>
                <a:spcPts val="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Centralized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Storage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Supabase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DB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reports,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bids,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contracts;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Supabase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Storage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images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&amp;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documents.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2700" marR="349250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	Live Map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Monitoring</a:t>
            </a:r>
            <a:r>
              <a:rPr sz="1600" b="1" spc="-1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 </a:t>
            </a:r>
            <a:r>
              <a:rPr sz="1600" spc="-10" dirty="0">
                <a:latin typeface="Trebuchet MS"/>
                <a:cs typeface="Trebuchet MS"/>
              </a:rPr>
              <a:t>Status-</a:t>
            </a:r>
            <a:r>
              <a:rPr sz="1600" dirty="0">
                <a:latin typeface="Trebuchet MS"/>
                <a:cs typeface="Trebuchet MS"/>
              </a:rPr>
              <a:t>based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color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markers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(reported,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verified,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discarded, </a:t>
            </a:r>
            <a:r>
              <a:rPr sz="1600" spc="-10" dirty="0">
                <a:latin typeface="Trebuchet MS"/>
                <a:cs typeface="Trebuchet MS"/>
              </a:rPr>
              <a:t>assigned, repaired).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 dirty="0">
              <a:latin typeface="Trebuchet MS"/>
              <a:cs typeface="Trebuchet MS"/>
            </a:endParaRPr>
          </a:p>
          <a:p>
            <a:pPr marL="12700" marR="5080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	Bidding</a:t>
            </a:r>
            <a:r>
              <a:rPr sz="1600" b="1" spc="-7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&amp;</a:t>
            </a:r>
            <a:r>
              <a:rPr sz="1600" b="1" spc="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Contracts</a:t>
            </a:r>
            <a:r>
              <a:rPr sz="1600" b="1" spc="-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 Contractors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submit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bids;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lowest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tracked;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government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assigns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-10" dirty="0">
                <a:latin typeface="Trebuchet MS"/>
                <a:cs typeface="Trebuchet MS"/>
              </a:rPr>
              <a:t> manages contracts.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Duplicate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Detection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RPC/Haversine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ensures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duplicate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reports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same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area.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966" y="253111"/>
            <a:ext cx="8074482" cy="783496"/>
          </a:xfrm>
          <a:prstGeom prst="rect">
            <a:avLst/>
          </a:prstGeom>
        </p:spPr>
        <p:txBody>
          <a:bodyPr vert="horz" wrap="square" lIns="0" tIns="173939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lang="en-US" dirty="0"/>
              <a:t>Explanation</a:t>
            </a:r>
            <a:r>
              <a:rPr lang="en-US" sz="3950" dirty="0"/>
              <a:t> of System Diagram</a:t>
            </a:r>
            <a:endParaRPr sz="3950" dirty="0"/>
          </a:p>
        </p:txBody>
      </p:sp>
      <p:sp>
        <p:nvSpPr>
          <p:cNvPr id="4" name="object 4"/>
          <p:cNvSpPr txBox="1"/>
          <p:nvPr/>
        </p:nvSpPr>
        <p:spPr>
          <a:xfrm>
            <a:off x="299415" y="1811223"/>
            <a:ext cx="9451340" cy="3098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Community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Philanthropy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Donations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Citizens/NGOs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contribute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funds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pothole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repairs.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spc="-10" dirty="0">
                <a:latin typeface="Trebuchet MS"/>
                <a:cs typeface="Trebuchet MS"/>
              </a:rPr>
              <a:t>Smart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Assignment Workflow</a:t>
            </a:r>
            <a:r>
              <a:rPr sz="1800" b="1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assigned,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repairs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tracked,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completion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verified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by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government.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spc="-10" dirty="0">
                <a:latin typeface="Trebuchet MS"/>
                <a:cs typeface="Trebuchet MS"/>
              </a:rPr>
              <a:t>Penalty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System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Fines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restrictions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delivering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poor-quality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work.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Dashboards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Analytics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Visual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insights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density,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performance,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donations,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repair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status.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874" y="450400"/>
            <a:ext cx="4926752" cy="4747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0"/>
              </a:spcBef>
            </a:pPr>
            <a:r>
              <a:rPr sz="3950" spc="-65" dirty="0"/>
              <a:t>Yolo</a:t>
            </a:r>
            <a:r>
              <a:rPr sz="3950" spc="-175" dirty="0"/>
              <a:t> </a:t>
            </a:r>
            <a:r>
              <a:rPr sz="3950" spc="-10" dirty="0"/>
              <a:t>Hyperparameters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439318" y="1525016"/>
            <a:ext cx="9294495" cy="520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095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Model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base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Starts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yolo11n.pt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(small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fast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model).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Input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size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Configurable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image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size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(default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640×640).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Device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selection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Automatically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GPU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available,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else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CPU.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Augmentations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HSV,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flips,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mosaic,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geometric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transforms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reduce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overfitting.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Regularization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Dropout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(0.1)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weight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decay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(5e-4)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improve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generalization.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Optimizer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LR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AdamW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warmup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(3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epochs)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cosine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decay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smooth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training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Loss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gains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 </a:t>
            </a:r>
            <a:r>
              <a:rPr sz="1800" spc="-10" dirty="0">
                <a:latin typeface="Trebuchet MS"/>
                <a:cs typeface="Trebuchet MS"/>
              </a:rPr>
              <a:t>Weighted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box,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class,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DFL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losses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balanced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training.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spc="-10" dirty="0">
                <a:latin typeface="Trebuchet MS"/>
                <a:cs typeface="Trebuchet MS"/>
              </a:rPr>
              <a:t>Performance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Mixed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precision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(AMP)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caching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faster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training.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Batch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LR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scaling</a:t>
            </a:r>
            <a:r>
              <a:rPr sz="1800" b="1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Configurable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batch,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nominal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batch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scale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learning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rate.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Early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stopping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Stops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improvement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patience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period.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8821"/>
            <a:ext cx="8517382" cy="11138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Improvement</a:t>
            </a:r>
            <a:r>
              <a:rPr sz="3950" spc="15" dirty="0"/>
              <a:t> </a:t>
            </a:r>
            <a:r>
              <a:rPr sz="3950" dirty="0"/>
              <a:t>from</a:t>
            </a:r>
            <a:r>
              <a:rPr sz="3950" spc="-50" dirty="0"/>
              <a:t> </a:t>
            </a:r>
            <a:r>
              <a:rPr sz="3950" dirty="0"/>
              <a:t>Existing</a:t>
            </a:r>
            <a:r>
              <a:rPr sz="3950" spc="-5" dirty="0"/>
              <a:t> </a:t>
            </a:r>
            <a:r>
              <a:rPr sz="3950" spc="-10" dirty="0"/>
              <a:t>Systems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299415" y="1764919"/>
            <a:ext cx="9060815" cy="4905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indent="-6350">
              <a:lnSpc>
                <a:spcPct val="100000"/>
              </a:lnSpc>
              <a:spcBef>
                <a:spcPts val="10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	AI-powered</a:t>
            </a:r>
            <a:r>
              <a:rPr sz="1600" b="1" spc="1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validation</a:t>
            </a:r>
            <a:r>
              <a:rPr sz="1600" b="1" spc="1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1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YOLOv11</a:t>
            </a:r>
            <a:r>
              <a:rPr sz="1600" spc="1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1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MobileNet</a:t>
            </a:r>
            <a:r>
              <a:rPr sz="1600" spc="1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models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ensure</a:t>
            </a:r>
            <a:r>
              <a:rPr sz="1600" spc="1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</a:t>
            </a:r>
            <a:r>
              <a:rPr sz="1600" spc="1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images</a:t>
            </a:r>
            <a:r>
              <a:rPr sz="1600" spc="1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1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severity</a:t>
            </a:r>
            <a:r>
              <a:rPr sz="1600" spc="15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are </a:t>
            </a:r>
            <a:r>
              <a:rPr sz="1600" dirty="0">
                <a:latin typeface="Trebuchet MS"/>
                <a:cs typeface="Trebuchet MS"/>
              </a:rPr>
              <a:t>verified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automatically.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2700" marR="5715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spc="-10" dirty="0">
                <a:latin typeface="Trebuchet MS"/>
                <a:cs typeface="Trebuchet MS"/>
              </a:rPr>
              <a:t>	Role-</a:t>
            </a:r>
            <a:r>
              <a:rPr sz="1600" b="1" dirty="0">
                <a:latin typeface="Trebuchet MS"/>
                <a:cs typeface="Trebuchet MS"/>
              </a:rPr>
              <a:t>based</a:t>
            </a:r>
            <a:r>
              <a:rPr sz="1600" b="1" spc="9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workflows</a:t>
            </a:r>
            <a:r>
              <a:rPr sz="1600" b="1" spc="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1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Separate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dashboards</a:t>
            </a:r>
            <a:r>
              <a:rPr sz="1600" spc="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1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citizens,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contractors,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10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officials</a:t>
            </a:r>
            <a:r>
              <a:rPr sz="1600" spc="114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vs.</a:t>
            </a:r>
            <a:r>
              <a:rPr sz="1600" spc="9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generic </a:t>
            </a:r>
            <a:r>
              <a:rPr sz="1600" dirty="0">
                <a:latin typeface="Trebuchet MS"/>
                <a:cs typeface="Trebuchet MS"/>
              </a:rPr>
              <a:t>reporting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apps.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spcBef>
                <a:spcPts val="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Bidding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mechanism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compete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repair jobs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instead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fixed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vendor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assignment.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spcBef>
                <a:spcPts val="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spc="-10" dirty="0">
                <a:latin typeface="Trebuchet MS"/>
                <a:cs typeface="Trebuchet MS"/>
              </a:rPr>
              <a:t>Severity-</a:t>
            </a:r>
            <a:r>
              <a:rPr sz="1600" b="1" dirty="0">
                <a:latin typeface="Trebuchet MS"/>
                <a:cs typeface="Trebuchet MS"/>
              </a:rPr>
              <a:t>based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pricing</a:t>
            </a:r>
            <a:r>
              <a:rPr sz="1600" b="1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Automated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base repair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cost derived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from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ML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severity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classification.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2700" marR="5715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  <a:tab pos="2024380" algn="l"/>
                <a:tab pos="2878455" algn="l"/>
                <a:tab pos="3091815" algn="l"/>
                <a:tab pos="4046220" algn="l"/>
                <a:tab pos="4808220" algn="l"/>
                <a:tab pos="5137785" algn="l"/>
                <a:tab pos="5967095" algn="l"/>
                <a:tab pos="6808470" algn="l"/>
                <a:tab pos="7503795" algn="l"/>
              </a:tabLst>
            </a:pPr>
            <a:r>
              <a:rPr sz="1600" b="1" spc="-10" dirty="0">
                <a:latin typeface="Trebuchet MS"/>
                <a:cs typeface="Trebuchet MS"/>
              </a:rPr>
              <a:t>	Community-driven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funding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–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Donation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system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to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support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repairs,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unlike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government-</a:t>
            </a:r>
            <a:r>
              <a:rPr sz="1600" spc="-20" dirty="0">
                <a:latin typeface="Trebuchet MS"/>
                <a:cs typeface="Trebuchet MS"/>
              </a:rPr>
              <a:t>only </a:t>
            </a:r>
            <a:r>
              <a:rPr sz="1600" dirty="0">
                <a:latin typeface="Trebuchet MS"/>
                <a:cs typeface="Trebuchet MS"/>
              </a:rPr>
              <a:t>funding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(Potholes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with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personal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funding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don’t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need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government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approval).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2700" marR="9525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  <a:tab pos="1628139" algn="l"/>
                <a:tab pos="1908810" algn="l"/>
                <a:tab pos="2921000" algn="l"/>
                <a:tab pos="3131185" algn="l"/>
                <a:tab pos="4528185" algn="l"/>
                <a:tab pos="5622290" algn="l"/>
                <a:tab pos="6158865" algn="l"/>
                <a:tab pos="7134225" algn="l"/>
                <a:tab pos="7537450" algn="l"/>
                <a:tab pos="8086090" algn="l"/>
              </a:tabLst>
            </a:pPr>
            <a:r>
              <a:rPr sz="1600" b="1" spc="-10" dirty="0">
                <a:latin typeface="Trebuchet MS"/>
                <a:cs typeface="Trebuchet MS"/>
              </a:rPr>
              <a:t>	Accountability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50" dirty="0">
                <a:latin typeface="Trebuchet MS"/>
                <a:cs typeface="Trebuchet MS"/>
              </a:rPr>
              <a:t>&amp;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penalties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–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Quality-based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evaluation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0" dirty="0">
                <a:latin typeface="Trebuchet MS"/>
                <a:cs typeface="Trebuchet MS"/>
              </a:rPr>
              <a:t>with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penalties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for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0" dirty="0">
                <a:latin typeface="Trebuchet MS"/>
                <a:cs typeface="Trebuchet MS"/>
              </a:rPr>
              <a:t>poor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contractor performance.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spc="-25" dirty="0">
                <a:latin typeface="Trebuchet MS"/>
                <a:cs typeface="Trebuchet MS"/>
              </a:rPr>
              <a:t>Transparency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Live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Map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with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status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tracking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(reported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→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Trebuchet MS"/>
                <a:cs typeface="Trebuchet MS"/>
              </a:rPr>
              <a:t>verified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→</a:t>
            </a:r>
            <a:r>
              <a:rPr sz="1600" spc="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Trebuchet MS"/>
                <a:cs typeface="Trebuchet MS"/>
              </a:rPr>
              <a:t>assigned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→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repaired).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2700" marR="5080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	Integrated</a:t>
            </a:r>
            <a:r>
              <a:rPr sz="1600" b="1" spc="7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admin</a:t>
            </a:r>
            <a:r>
              <a:rPr sz="1600" b="1" spc="6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approval</a:t>
            </a:r>
            <a:r>
              <a:rPr sz="1600" b="1" spc="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</a:t>
            </a:r>
            <a:r>
              <a:rPr sz="1600" spc="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officials</a:t>
            </a:r>
            <a:r>
              <a:rPr sz="1600" spc="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verified</a:t>
            </a:r>
            <a:r>
              <a:rPr sz="1600" spc="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before</a:t>
            </a:r>
            <a:r>
              <a:rPr sz="1600" spc="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system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access</a:t>
            </a:r>
            <a:r>
              <a:rPr sz="1600" spc="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trust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&amp; </a:t>
            </a:r>
            <a:r>
              <a:rPr sz="1600" spc="-10" dirty="0">
                <a:latin typeface="Trebuchet MS"/>
                <a:cs typeface="Trebuchet MS"/>
              </a:rPr>
              <a:t>compliance.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591" y="779811"/>
            <a:ext cx="6264481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Technologies</a:t>
            </a:r>
            <a:r>
              <a:rPr spc="-7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methodologies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0019" y="1596593"/>
            <a:ext cx="8637905" cy="5339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730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Frontend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React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+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Vite,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Redux,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Mapbox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GL,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axios,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react-hot-toast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Backend</a:t>
            </a:r>
            <a:r>
              <a:rPr sz="1800" b="1" spc="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Node.js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+</a:t>
            </a:r>
            <a:r>
              <a:rPr sz="1800" spc="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Express,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Supabase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(Postgres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+</a:t>
            </a:r>
            <a:r>
              <a:rPr sz="1800" spc="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Storage</a:t>
            </a:r>
            <a:r>
              <a:rPr sz="1800" spc="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+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RPC),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JWT,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multer,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rebuchet MS"/>
                <a:cs typeface="Trebuchet MS"/>
              </a:rPr>
              <a:t>CORS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Machine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Learning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–</a:t>
            </a: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YOLOv11</a:t>
            </a:r>
            <a:r>
              <a:rPr sz="1800" b="1" spc="-8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(ONNX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Runtime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+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OpenCV,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Flask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API)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detection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images</a:t>
            </a:r>
            <a:r>
              <a:rPr lang="en-US" sz="1800" spc="-10" dirty="0">
                <a:latin typeface="Trebuchet MS"/>
                <a:cs typeface="Trebuchet MS"/>
              </a:rPr>
              <a:t> and Severity detection </a:t>
            </a:r>
            <a:br>
              <a:rPr lang="en-US" sz="1800" spc="-10" dirty="0">
                <a:latin typeface="Trebuchet MS"/>
                <a:cs typeface="Trebuchet MS"/>
              </a:rPr>
            </a:br>
            <a:endParaRPr sz="1800" dirty="0">
              <a:latin typeface="Trebuchet MS"/>
              <a:cs typeface="Trebuchet MS"/>
            </a:endParaRPr>
          </a:p>
          <a:p>
            <a:pPr marL="12700" marR="11430" indent="-381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	Geospatial</a:t>
            </a:r>
            <a:r>
              <a:rPr sz="1800" b="1" spc="3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Logic</a:t>
            </a:r>
            <a:r>
              <a:rPr sz="1800" b="1" spc="2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3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Mapbox</a:t>
            </a:r>
            <a:r>
              <a:rPr sz="1800" spc="3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reverse</a:t>
            </a:r>
            <a:r>
              <a:rPr sz="1800" spc="3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geocoding;</a:t>
            </a:r>
            <a:r>
              <a:rPr sz="1800" spc="2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Haversine</a:t>
            </a:r>
            <a:r>
              <a:rPr sz="1800" spc="3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formula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2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duplicate detection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Authentication</a:t>
            </a:r>
            <a:r>
              <a:rPr sz="1800" b="1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Email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OTP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verification;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Google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Sign-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citizens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Admin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Tools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Supabase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Storage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document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verification;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hardcoded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admin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with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JWT-protected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APIs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APIs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REST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(Auth,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reporting,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Verification,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Bidding,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Admin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verification,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ML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rebuchet MS"/>
                <a:cs typeface="Trebuchet MS"/>
              </a:rPr>
              <a:t>detection)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032" y="779811"/>
            <a:ext cx="2195068" cy="3587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Outocomes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73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133985" algn="l"/>
              </a:tabLst>
            </a:pPr>
            <a:r>
              <a:rPr dirty="0"/>
              <a:t>Faster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accurate</a:t>
            </a:r>
            <a:r>
              <a:rPr spc="-35" dirty="0"/>
              <a:t> </a:t>
            </a:r>
            <a:r>
              <a:rPr dirty="0"/>
              <a:t>pothole</a:t>
            </a:r>
            <a:r>
              <a:rPr spc="-60" dirty="0"/>
              <a:t> </a:t>
            </a:r>
            <a:r>
              <a:rPr dirty="0"/>
              <a:t>detection</a:t>
            </a:r>
            <a:r>
              <a:rPr spc="-3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ML</a:t>
            </a:r>
            <a:r>
              <a:rPr spc="-105" dirty="0"/>
              <a:t> </a:t>
            </a:r>
            <a:r>
              <a:rPr dirty="0"/>
              <a:t>models</a:t>
            </a:r>
            <a:r>
              <a:rPr spc="-45" dirty="0"/>
              <a:t> </a:t>
            </a:r>
            <a:r>
              <a:rPr dirty="0"/>
              <a:t>(YOLO</a:t>
            </a:r>
            <a:r>
              <a:rPr spc="-75" dirty="0"/>
              <a:t> </a:t>
            </a:r>
            <a:r>
              <a:rPr dirty="0"/>
              <a:t>+</a:t>
            </a:r>
            <a:r>
              <a:rPr spc="-45" dirty="0"/>
              <a:t> </a:t>
            </a:r>
            <a:r>
              <a:rPr spc="-10" dirty="0"/>
              <a:t>MobileNet).</a:t>
            </a:r>
          </a:p>
          <a:p>
            <a:pPr>
              <a:lnSpc>
                <a:spcPct val="100000"/>
              </a:lnSpc>
              <a:spcBef>
                <a:spcPts val="75"/>
              </a:spcBef>
              <a:buFont typeface="Trebuchet MS"/>
              <a:buChar char="•"/>
            </a:pPr>
            <a:endParaRPr spc="-10" dirty="0"/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spc="-25" dirty="0"/>
              <a:t>Transparent</a:t>
            </a:r>
            <a:r>
              <a:rPr spc="-30" dirty="0"/>
              <a:t> </a:t>
            </a:r>
            <a:r>
              <a:rPr dirty="0"/>
              <a:t>workflow</a:t>
            </a:r>
            <a:r>
              <a:rPr spc="-5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citizen</a:t>
            </a:r>
            <a:r>
              <a:rPr spc="-55" dirty="0"/>
              <a:t> </a:t>
            </a:r>
            <a:r>
              <a:rPr dirty="0"/>
              <a:t>report</a:t>
            </a:r>
            <a:r>
              <a:rPr spc="-10" dirty="0"/>
              <a:t> </a:t>
            </a:r>
            <a:r>
              <a:rPr dirty="0">
                <a:latin typeface="Microsoft Sans Serif"/>
                <a:cs typeface="Microsoft Sans Serif"/>
              </a:rPr>
              <a:t>→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/>
              <a:t>verification </a:t>
            </a:r>
            <a:r>
              <a:rPr dirty="0">
                <a:latin typeface="Microsoft Sans Serif"/>
                <a:cs typeface="Microsoft Sans Serif"/>
              </a:rPr>
              <a:t>→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/>
              <a:t>repair</a:t>
            </a:r>
            <a:r>
              <a:rPr spc="-15" dirty="0"/>
              <a:t> </a:t>
            </a:r>
            <a:r>
              <a:rPr dirty="0">
                <a:latin typeface="Microsoft Sans Serif"/>
                <a:cs typeface="Microsoft Sans Serif"/>
              </a:rPr>
              <a:t>→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/>
              <a:t>fund</a:t>
            </a:r>
            <a:r>
              <a:rPr spc="-50" dirty="0"/>
              <a:t> </a:t>
            </a:r>
            <a:r>
              <a:rPr spc="-10" dirty="0"/>
              <a:t>release.</a:t>
            </a: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pc="-10" dirty="0"/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dirty="0"/>
              <a:t>Competitive</a:t>
            </a:r>
            <a:r>
              <a:rPr spc="-60" dirty="0"/>
              <a:t> </a:t>
            </a:r>
            <a:r>
              <a:rPr dirty="0"/>
              <a:t>bidding</a:t>
            </a:r>
            <a:r>
              <a:rPr spc="-75" dirty="0"/>
              <a:t> </a:t>
            </a:r>
            <a:r>
              <a:rPr dirty="0"/>
              <a:t>ensures</a:t>
            </a:r>
            <a:r>
              <a:rPr spc="-60" dirty="0"/>
              <a:t> </a:t>
            </a:r>
            <a:r>
              <a:rPr dirty="0"/>
              <a:t>cost-effective</a:t>
            </a:r>
            <a:r>
              <a:rPr spc="-8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timely</a:t>
            </a:r>
            <a:r>
              <a:rPr spc="-75" dirty="0"/>
              <a:t> </a:t>
            </a:r>
            <a:r>
              <a:rPr spc="-10" dirty="0"/>
              <a:t>repairs.</a:t>
            </a: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pc="-10" dirty="0"/>
          </a:p>
          <a:p>
            <a:pPr marL="133985" indent="-125730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dirty="0"/>
              <a:t>Community</a:t>
            </a:r>
            <a:r>
              <a:rPr spc="-45" dirty="0"/>
              <a:t> </a:t>
            </a:r>
            <a:r>
              <a:rPr dirty="0"/>
              <a:t>donations</a:t>
            </a:r>
            <a:r>
              <a:rPr spc="-70" dirty="0"/>
              <a:t> </a:t>
            </a:r>
            <a:r>
              <a:rPr dirty="0"/>
              <a:t>enable</a:t>
            </a:r>
            <a:r>
              <a:rPr spc="-65" dirty="0"/>
              <a:t> </a:t>
            </a:r>
            <a:r>
              <a:rPr dirty="0"/>
              <a:t>faster</a:t>
            </a:r>
            <a:r>
              <a:rPr spc="-65" dirty="0"/>
              <a:t> </a:t>
            </a:r>
            <a:r>
              <a:rPr dirty="0"/>
              <a:t>resolution</a:t>
            </a:r>
            <a:r>
              <a:rPr spc="-65" dirty="0"/>
              <a:t> </a:t>
            </a:r>
            <a:r>
              <a:rPr dirty="0"/>
              <a:t>beyond</a:t>
            </a:r>
            <a:r>
              <a:rPr spc="-80" dirty="0"/>
              <a:t> </a:t>
            </a:r>
            <a:r>
              <a:rPr dirty="0"/>
              <a:t>government</a:t>
            </a:r>
            <a:r>
              <a:rPr spc="-60" dirty="0"/>
              <a:t> </a:t>
            </a:r>
            <a:r>
              <a:rPr spc="-10" dirty="0"/>
              <a:t>budgets.</a:t>
            </a: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pc="-10" dirty="0"/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dirty="0"/>
              <a:t>Accountability</a:t>
            </a:r>
            <a:r>
              <a:rPr spc="-70" dirty="0"/>
              <a:t> </a:t>
            </a:r>
            <a:r>
              <a:rPr dirty="0"/>
              <a:t>through</a:t>
            </a:r>
            <a:r>
              <a:rPr spc="-70" dirty="0"/>
              <a:t> </a:t>
            </a:r>
            <a:r>
              <a:rPr dirty="0"/>
              <a:t>penalties</a:t>
            </a:r>
            <a:r>
              <a:rPr spc="-75" dirty="0"/>
              <a:t> </a:t>
            </a:r>
            <a:r>
              <a:rPr dirty="0"/>
              <a:t>improves</a:t>
            </a:r>
            <a:r>
              <a:rPr spc="-70" dirty="0"/>
              <a:t> </a:t>
            </a:r>
            <a:r>
              <a:rPr dirty="0"/>
              <a:t>contractor</a:t>
            </a:r>
            <a:r>
              <a:rPr spc="-75" dirty="0"/>
              <a:t> </a:t>
            </a:r>
            <a:r>
              <a:rPr spc="-10" dirty="0"/>
              <a:t>performance.</a:t>
            </a: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pc="-10" dirty="0"/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dirty="0"/>
              <a:t>Dashboards</a:t>
            </a:r>
            <a:r>
              <a:rPr spc="-20" dirty="0"/>
              <a:t> </a:t>
            </a:r>
            <a:r>
              <a:rPr dirty="0"/>
              <a:t>provide</a:t>
            </a:r>
            <a:r>
              <a:rPr spc="-55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insights</a:t>
            </a:r>
            <a:r>
              <a:rPr spc="-4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all</a:t>
            </a:r>
            <a:r>
              <a:rPr spc="-40" dirty="0"/>
              <a:t> </a:t>
            </a:r>
            <a:r>
              <a:rPr spc="-10" dirty="0"/>
              <a:t>stakeholders.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9614" y="3383407"/>
            <a:ext cx="2828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45" dirty="0"/>
              <a:t> </a:t>
            </a:r>
            <a:r>
              <a:rPr spc="-50" dirty="0"/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1592</Words>
  <Application>Microsoft Office PowerPoint</Application>
  <PresentationFormat>Custom</PresentationFormat>
  <Paragraphs>225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Microsoft Sans Serif</vt:lpstr>
      <vt:lpstr>Tahoma</vt:lpstr>
      <vt:lpstr>Times New Roman</vt:lpstr>
      <vt:lpstr>Trebuchet MS</vt:lpstr>
      <vt:lpstr>Wingdings</vt:lpstr>
      <vt:lpstr>Office Theme</vt:lpstr>
      <vt:lpstr>SpotNFix: Smart pothole reporting and severity detection system</vt:lpstr>
      <vt:lpstr>Outline</vt:lpstr>
      <vt:lpstr>Introduction</vt:lpstr>
      <vt:lpstr>Motivation</vt:lpstr>
      <vt:lpstr>Objectives</vt:lpstr>
      <vt:lpstr>Literature Survey of the existing ML Models</vt:lpstr>
      <vt:lpstr>Outcome of Literature survey (Pothole ML Models)</vt:lpstr>
      <vt:lpstr>Name of Existing Systems</vt:lpstr>
      <vt:lpstr>Limitations of Existing Systems</vt:lpstr>
      <vt:lpstr>Problem statement</vt:lpstr>
      <vt:lpstr>System Design</vt:lpstr>
      <vt:lpstr>Explanation of System design</vt:lpstr>
      <vt:lpstr>Explanation of System Diagram</vt:lpstr>
      <vt:lpstr>Yolo Hyperparameters</vt:lpstr>
      <vt:lpstr>Improvement from Existing Systems</vt:lpstr>
      <vt:lpstr>Technologies and methodologies</vt:lpstr>
      <vt:lpstr>Outocomes</vt:lpstr>
      <vt:lpstr>Thank You...!!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saw31</dc:creator>
  <cp:lastModifiedBy>saw31221@gmail.com</cp:lastModifiedBy>
  <cp:revision>5</cp:revision>
  <dcterms:created xsi:type="dcterms:W3CDTF">2025-10-10T04:33:16Z</dcterms:created>
  <dcterms:modified xsi:type="dcterms:W3CDTF">2025-10-31T06:44:34Z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2025-10-10T00:00:00Z</vt:filetime>
  </property>
  <property fmtid="{D5CDD505-2E9C-101B-9397-08002B2CF9AE}" pid="5" name="Producer">
    <vt:lpwstr>www.ilovepdf.com</vt:lpwstr>
  </property>
</Properties>
</file>